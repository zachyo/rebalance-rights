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Rebalance Rights turns one stale-pool correction into an auctioned asset. Searchers compete for the right to correct the pool, and the winning bid goes back to the LPs who made that opportunity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 external market moves before an AMM, the stale pool creates a valuable correction opportunity. Arbitrage keeps the market efficient, but the value comes from LP inventory. Our question is: what if LPs could sell access before the correction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Rebalance Rights creates a small market around one state transition. Reactive detects the event, searchers auction for the route, the hook enforces a winner-bound permit, and the payment is allocated to the historical LP snapshot.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event starts on Base Sepolia. Reactive Network coordinates the authenticated callback. Unichain hosts the real PoolManager, auction, hook, controller, and reward vault. beforeSwap validates the permit and afterSwap settles it against the resulting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uses a real local v4 PoolManager path and a testnet deployment. The complete winning bid is indexed to eligible LP shares in constant time. In our demo, Alice receives 0.9, Bao receives 0.6, and the late LP receives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proof demonstrates the complete mechanism. Next we would add commit-reveal bidding, production oracle adapters, and searcher pilots. For the remaining three minutes, I will run the market live from dislocation to LP payout.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R">
    <p:bg>
      <p:bgPr>
        <a:solidFill>
          <a:srgbClr val="F5EEDA"/>
        </a:solidFill>
      </p:bgPr>
    </p:bg>
    <p:spTree>
      <p:nvGrpSpPr>
        <p:cNvPr id="1" name=""/>
        <p:cNvGrpSpPr/>
        <p:nvPr/>
      </p:nvGrpSpPr>
      <p:grpSpPr>
        <a:xfrm>
          <a:off x="0" y="0"/>
          <a:ext cx="0" cy="0"/>
          <a:chOff x="0" y="0"/>
          <a:chExt cx="0" cy="0"/>
        </a:xfrm>
      </p:grpSpPr>
      <p:sp>
        <p:nvSpPr>
          <p:cNvPr id="2" name="Shape 0"/>
          <p:cNvSpPr/>
          <p:nvPr/>
        </p:nvSpPr>
        <p:spPr>
          <a:xfrm>
            <a:off x="0" y="502920"/>
            <a:ext cx="12191695" cy="0"/>
          </a:xfrm>
          <a:prstGeom prst="line">
            <a:avLst/>
          </a:prstGeom>
          <a:noFill/>
          <a:ln w="25400">
            <a:solidFill>
              <a:srgbClr val="101010"/>
            </a:solidFill>
            <a:prstDash val="solid"/>
          </a:ln>
        </p:spPr>
      </p:sp>
      <p:sp>
        <p:nvSpPr>
          <p:cNvPr id="3" name="Text 1"/>
          <p:cNvSpPr/>
          <p:nvPr/>
        </p:nvSpPr>
        <p:spPr>
          <a:xfrm>
            <a:off x="292608" y="118872"/>
            <a:ext cx="731520" cy="256032"/>
          </a:xfrm>
          <a:prstGeom prst="rect">
            <a:avLst/>
          </a:prstGeom>
          <a:noFill/>
          <a:ln/>
        </p:spPr>
        <p:txBody>
          <a:bodyPr wrap="square" lIns="0" tIns="0" rIns="0" bIns="0" rtlCol="0" anchor="ctr"/>
          <a:lstStyle/>
          <a:p>
            <a:pPr indent="0" marL="0">
              <a:buNone/>
            </a:pPr>
            <a:r>
              <a:rPr lang="en-US" sz="1700" b="1" dirty="0">
                <a:solidFill>
                  <a:srgbClr val="101010"/>
                </a:solidFill>
                <a:latin typeface="Arial" pitchFamily="34" charset="0"/>
                <a:ea typeface="Arial" pitchFamily="34" charset="-122"/>
                <a:cs typeface="Arial" pitchFamily="34" charset="-120"/>
              </a:rPr>
              <a:t>RR.</a:t>
            </a:r>
            <a:endParaRPr lang="en-US" sz="1700" dirty="0"/>
          </a:p>
        </p:txBody>
      </p:sp>
      <p:sp>
        <p:nvSpPr>
          <p:cNvPr id="4" name="Text 2"/>
          <p:cNvSpPr/>
          <p:nvPr/>
        </p:nvSpPr>
        <p:spPr>
          <a:xfrm>
            <a:off x="8732520" y="155448"/>
            <a:ext cx="3108960" cy="182880"/>
          </a:xfrm>
          <a:prstGeom prst="rect">
            <a:avLst/>
          </a:prstGeom>
          <a:noFill/>
          <a:ln/>
        </p:spPr>
        <p:txBody>
          <a:bodyPr wrap="square" lIns="0" tIns="0" rIns="0" bIns="0" rtlCol="0" anchor="ctr"/>
          <a:lstStyle/>
          <a:p>
            <a:pPr algn="r" indent="0" marL="0">
              <a:buNone/>
            </a:pPr>
            <a:r>
              <a:rPr lang="en-US" sz="800" b="1" spc="110" kern="0" dirty="0">
                <a:solidFill>
                  <a:srgbClr val="101010"/>
                </a:solidFill>
                <a:latin typeface="Courier New" pitchFamily="34" charset="0"/>
                <a:ea typeface="Courier New" pitchFamily="34" charset="-122"/>
                <a:cs typeface="Courier New" pitchFamily="34" charset="-120"/>
              </a:rPr>
              <a:t>REBALANCE RIGHTS / UHI10</a:t>
            </a:r>
            <a:endParaRPr lang="en-US" sz="800" dirty="0"/>
          </a:p>
        </p:txBody>
      </p:sp>
      <p:sp>
        <p:nvSpPr>
          <p:cNvPr id="25" name="Slide Number Placeholder 0"/>
          <p:cNvSpPr>
            <a:spLocks noGrp="1"/>
          </p:cNvSpPr>
          <p:nvPr>
            <p:ph type="sldNum" sz="quarter" idx="4294967295"/>
          </p:nvPr>
        </p:nvSpPr>
        <p:spPr>
          <a:xfrm>
            <a:off x="11567160" y="6473952"/>
            <a:ext cx="27432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101010"/>
                </a:solidFill>
                <a:latin typeface="Courier New"/>
                <a:ea typeface="Courier New"/>
                <a:cs typeface="Courier New"/>
              </a:defRPr>
            </a:lvl1pPr>
          </a:lstStyle>
          <a:p>
            <a:pPr algn="r"/>
            <a:fld id="{F7021451-1387-4CA6-816F-3879F97B5CBC}" type="slidenum">
              <a:rPr b="1"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67160" y="6473952"/>
            <a:ext cx="27432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101010"/>
                </a:solidFill>
                <a:latin typeface="Courier New"/>
                <a:ea typeface="Courier New"/>
                <a:cs typeface="Courier New"/>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593D"/>
        </a:solidFill>
      </p:bgPr>
    </p:bg>
    <p:spTree>
      <p:nvGrpSpPr>
        <p:cNvPr id="1" name=""/>
        <p:cNvGrpSpPr/>
        <p:nvPr/>
      </p:nvGrpSpPr>
      <p:grpSpPr>
        <a:xfrm>
          <a:off x="0" y="0"/>
          <a:ext cx="0" cy="0"/>
          <a:chOff x="0" y="0"/>
          <a:chExt cx="0" cy="0"/>
        </a:xfrm>
      </p:grpSpPr>
      <p:sp>
        <p:nvSpPr>
          <p:cNvPr id="2" name="Shape 0"/>
          <p:cNvSpPr/>
          <p:nvPr/>
        </p:nvSpPr>
        <p:spPr>
          <a:xfrm>
            <a:off x="411480" y="822960"/>
            <a:ext cx="2331720" cy="310896"/>
          </a:xfrm>
          <a:prstGeom prst="rect">
            <a:avLst/>
          </a:prstGeom>
          <a:solidFill>
            <a:srgbClr val="F5EEDA"/>
          </a:solidFill>
          <a:ln w="25400">
            <a:solidFill>
              <a:srgbClr val="101010"/>
            </a:solidFill>
            <a:prstDash val="solid"/>
          </a:ln>
        </p:spPr>
      </p:sp>
      <p:sp>
        <p:nvSpPr>
          <p:cNvPr id="3" name="Text 1"/>
          <p:cNvSpPr/>
          <p:nvPr/>
        </p:nvSpPr>
        <p:spPr>
          <a:xfrm>
            <a:off x="493776" y="841248"/>
            <a:ext cx="2167128" cy="256032"/>
          </a:xfrm>
          <a:prstGeom prst="rect">
            <a:avLst/>
          </a:prstGeom>
          <a:noFill/>
          <a:ln/>
        </p:spPr>
        <p:txBody>
          <a:bodyPr wrap="square" lIns="0" tIns="0" rIns="0" bIns="0" rtlCol="0" anchor="ctr">
            <a:normAutofit/>
          </a:bodyPr>
          <a:lstStyle/>
          <a:p>
            <a:pPr indent="0" marL="0">
              <a:buNone/>
            </a:pPr>
            <a:r>
              <a:rPr lang="en-US" sz="850" b="1" spc="80" kern="0" dirty="0">
                <a:solidFill>
                  <a:srgbClr val="101010"/>
                </a:solidFill>
                <a:latin typeface="Courier New" pitchFamily="34" charset="0"/>
                <a:ea typeface="Courier New" pitchFamily="34" charset="-122"/>
                <a:cs typeface="Courier New" pitchFamily="34" charset="-120"/>
              </a:rPr>
              <a:t>MEV AUCTION HOOK / UNISWAP V4</a:t>
            </a:r>
            <a:endParaRPr lang="en-US" sz="850" dirty="0"/>
          </a:p>
        </p:txBody>
      </p:sp>
      <p:sp>
        <p:nvSpPr>
          <p:cNvPr id="4" name="Text 2"/>
          <p:cNvSpPr/>
          <p:nvPr/>
        </p:nvSpPr>
        <p:spPr>
          <a:xfrm>
            <a:off x="411480" y="1353312"/>
            <a:ext cx="7498080" cy="2121408"/>
          </a:xfrm>
          <a:prstGeom prst="rect">
            <a:avLst/>
          </a:prstGeom>
          <a:noFill/>
          <a:ln/>
        </p:spPr>
        <p:txBody>
          <a:bodyPr wrap="square" lIns="0" tIns="0" rIns="0" bIns="0" rtlCol="0" anchor="t">
            <a:normAutofit/>
          </a:bodyPr>
          <a:lstStyle/>
          <a:p>
            <a:pPr indent="0" marL="0">
              <a:buNone/>
            </a:pPr>
            <a:r>
              <a:rPr lang="en-US" sz="5800" b="1" spc="-220" kern="0" dirty="0">
                <a:solidFill>
                  <a:srgbClr val="101010"/>
                </a:solidFill>
                <a:latin typeface="Arial" pitchFamily="34" charset="0"/>
                <a:ea typeface="Arial" pitchFamily="34" charset="-122"/>
                <a:cs typeface="Arial" pitchFamily="34" charset="-120"/>
              </a:rPr>
              <a:t>CORRECTION</a:t>
            </a:r>
            <a:endParaRPr lang="en-US" sz="5800" dirty="0"/>
          </a:p>
          <a:p>
            <a:pPr indent="0" marL="0">
              <a:buNone/>
            </a:pPr>
            <a:r>
              <a:rPr lang="en-US" sz="5800" b="1" spc="-220" kern="0" dirty="0">
                <a:solidFill>
                  <a:srgbClr val="101010"/>
                </a:solidFill>
                <a:latin typeface="Arial" pitchFamily="34" charset="0"/>
                <a:ea typeface="Arial" pitchFamily="34" charset="-122"/>
                <a:cs typeface="Arial" pitchFamily="34" charset="-120"/>
              </a:rPr>
              <a:t>IS AN</a:t>
            </a:r>
            <a:endParaRPr lang="en-US" sz="5800" dirty="0"/>
          </a:p>
        </p:txBody>
      </p:sp>
      <p:sp>
        <p:nvSpPr>
          <p:cNvPr id="5" name="Text 3"/>
          <p:cNvSpPr/>
          <p:nvPr/>
        </p:nvSpPr>
        <p:spPr>
          <a:xfrm>
            <a:off x="411480" y="3456432"/>
            <a:ext cx="6949440" cy="987552"/>
          </a:xfrm>
          <a:prstGeom prst="rect">
            <a:avLst/>
          </a:prstGeom>
          <a:noFill/>
          <a:ln/>
        </p:spPr>
        <p:txBody>
          <a:bodyPr wrap="square" lIns="0" tIns="0" rIns="0" bIns="0" rtlCol="0" anchor="ctr">
            <a:normAutofit/>
          </a:bodyPr>
          <a:lstStyle/>
          <a:p>
            <a:pPr indent="0" marL="0">
              <a:buNone/>
            </a:pPr>
            <a:r>
              <a:rPr lang="en-US" sz="6200" b="1" i="1" spc="-220" kern="0" dirty="0">
                <a:solidFill>
                  <a:srgbClr val="F5EEDA"/>
                </a:solidFill>
                <a:latin typeface="Arial" pitchFamily="34" charset="0"/>
                <a:ea typeface="Arial" pitchFamily="34" charset="-122"/>
                <a:cs typeface="Arial" pitchFamily="34" charset="-120"/>
              </a:rPr>
              <a:t>ASSET.</a:t>
            </a:r>
            <a:endParaRPr lang="en-US" sz="6200" dirty="0"/>
          </a:p>
        </p:txBody>
      </p:sp>
      <p:sp>
        <p:nvSpPr>
          <p:cNvPr id="6" name="Text 4"/>
          <p:cNvSpPr/>
          <p:nvPr/>
        </p:nvSpPr>
        <p:spPr>
          <a:xfrm>
            <a:off x="475488" y="4800600"/>
            <a:ext cx="5852160" cy="658368"/>
          </a:xfrm>
          <a:prstGeom prst="rect">
            <a:avLst/>
          </a:prstGeom>
          <a:noFill/>
          <a:ln/>
        </p:spPr>
        <p:txBody>
          <a:bodyPr wrap="square" lIns="0" tIns="0" rIns="0" bIns="0" rtlCol="0" anchor="t">
            <a:normAutofit/>
          </a:bodyPr>
          <a:lstStyle/>
          <a:p>
            <a:pPr indent="0" marL="0">
              <a:buNone/>
            </a:pPr>
            <a:r>
              <a:rPr lang="en-US" sz="1800" b="1" dirty="0">
                <a:solidFill>
                  <a:srgbClr val="101010"/>
                </a:solidFill>
                <a:latin typeface="Arial" pitchFamily="34" charset="0"/>
                <a:ea typeface="Arial" pitchFamily="34" charset="-122"/>
                <a:cs typeface="Arial" pitchFamily="34" charset="-120"/>
              </a:rPr>
              <a:t>Auction one bounded stale-pool correction.</a:t>
            </a:r>
            <a:endParaRPr lang="en-US" sz="1800" dirty="0"/>
          </a:p>
          <a:p>
            <a:pPr indent="0" marL="0">
              <a:buNone/>
            </a:pPr>
            <a:r>
              <a:rPr lang="en-US" sz="1800" b="1" dirty="0">
                <a:solidFill>
                  <a:srgbClr val="101010"/>
                </a:solidFill>
                <a:latin typeface="Arial" pitchFamily="34" charset="0"/>
                <a:ea typeface="Arial" pitchFamily="34" charset="-122"/>
                <a:cs typeface="Arial" pitchFamily="34" charset="-120"/>
              </a:rPr>
              <a:t>Return the winning bid to exposed liquidity.</a:t>
            </a:r>
            <a:endParaRPr lang="en-US" sz="1800" dirty="0"/>
          </a:p>
        </p:txBody>
      </p:sp>
      <p:sp>
        <p:nvSpPr>
          <p:cNvPr id="7" name="Shape 5"/>
          <p:cNvSpPr/>
          <p:nvPr/>
        </p:nvSpPr>
        <p:spPr>
          <a:xfrm>
            <a:off x="8366760" y="1078992"/>
            <a:ext cx="2971800" cy="4434840"/>
          </a:xfrm>
          <a:prstGeom prst="rect">
            <a:avLst/>
          </a:prstGeom>
          <a:solidFill>
            <a:srgbClr val="F5EEDA"/>
          </a:solidFill>
          <a:ln w="25400">
            <a:solidFill>
              <a:srgbClr val="101010"/>
            </a:solidFill>
            <a:prstDash val="solid"/>
          </a:ln>
        </p:spPr>
      </p:sp>
      <p:sp>
        <p:nvSpPr>
          <p:cNvPr id="8" name="Text 6"/>
          <p:cNvSpPr/>
          <p:nvPr/>
        </p:nvSpPr>
        <p:spPr>
          <a:xfrm>
            <a:off x="8622792" y="1344168"/>
            <a:ext cx="2286000" cy="228600"/>
          </a:xfrm>
          <a:prstGeom prst="rect">
            <a:avLst/>
          </a:prstGeom>
          <a:noFill/>
          <a:ln/>
        </p:spPr>
        <p:txBody>
          <a:bodyPr wrap="square" lIns="0" tIns="0" rIns="0" bIns="0" rtlCol="0" anchor="ctr">
            <a:normAutofit/>
          </a:bodyPr>
          <a:lstStyle/>
          <a:p>
            <a:pPr indent="0" marL="0">
              <a:buNone/>
            </a:pPr>
            <a:r>
              <a:rPr lang="en-US" sz="900" b="1" dirty="0">
                <a:solidFill>
                  <a:srgbClr val="101010"/>
                </a:solidFill>
                <a:latin typeface="Courier New" pitchFamily="34" charset="0"/>
                <a:ea typeface="Courier New" pitchFamily="34" charset="-122"/>
                <a:cs typeface="Courier New" pitchFamily="34" charset="-120"/>
              </a:rPr>
              <a:t>AUCTION 0001</a:t>
            </a:r>
            <a:endParaRPr lang="en-US" sz="900" dirty="0"/>
          </a:p>
        </p:txBody>
      </p:sp>
      <p:sp>
        <p:nvSpPr>
          <p:cNvPr id="9" name="Text 7"/>
          <p:cNvSpPr/>
          <p:nvPr/>
        </p:nvSpPr>
        <p:spPr>
          <a:xfrm>
            <a:off x="8595360" y="1901952"/>
            <a:ext cx="2286000" cy="914400"/>
          </a:xfrm>
          <a:prstGeom prst="rect">
            <a:avLst/>
          </a:prstGeom>
          <a:noFill/>
          <a:ln/>
        </p:spPr>
        <p:txBody>
          <a:bodyPr wrap="square" lIns="0" tIns="0" rIns="0" bIns="0" rtlCol="0" anchor="ctr">
            <a:normAutofit/>
          </a:bodyPr>
          <a:lstStyle/>
          <a:p>
            <a:pPr indent="0" marL="0">
              <a:buNone/>
            </a:pPr>
            <a:r>
              <a:rPr lang="en-US" sz="5500" b="1" spc="-200" kern="0" dirty="0">
                <a:solidFill>
                  <a:srgbClr val="1746DB"/>
                </a:solidFill>
                <a:latin typeface="Arial" pitchFamily="34" charset="0"/>
                <a:ea typeface="Arial" pitchFamily="34" charset="-122"/>
                <a:cs typeface="Arial" pitchFamily="34" charset="-120"/>
              </a:rPr>
              <a:t>1.50</a:t>
            </a:r>
            <a:endParaRPr lang="en-US" sz="5500" dirty="0"/>
          </a:p>
        </p:txBody>
      </p:sp>
      <p:sp>
        <p:nvSpPr>
          <p:cNvPr id="10" name="Text 8"/>
          <p:cNvSpPr/>
          <p:nvPr/>
        </p:nvSpPr>
        <p:spPr>
          <a:xfrm>
            <a:off x="8622792" y="2852928"/>
            <a:ext cx="2194560" cy="228600"/>
          </a:xfrm>
          <a:prstGeom prst="rect">
            <a:avLst/>
          </a:prstGeom>
          <a:noFill/>
          <a:ln/>
        </p:spPr>
        <p:txBody>
          <a:bodyPr wrap="square" lIns="0" tIns="0" rIns="0" bIns="0" rtlCol="0" anchor="ctr">
            <a:normAutofit/>
          </a:bodyPr>
          <a:lstStyle/>
          <a:p>
            <a:pPr indent="0" marL="0">
              <a:buNone/>
            </a:pPr>
            <a:r>
              <a:rPr lang="en-US" sz="850" b="1" dirty="0">
                <a:solidFill>
                  <a:srgbClr val="101010"/>
                </a:solidFill>
                <a:latin typeface="Courier New" pitchFamily="34" charset="0"/>
                <a:ea typeface="Courier New" pitchFamily="34" charset="-122"/>
                <a:cs typeface="Courier New" pitchFamily="34" charset="-120"/>
              </a:rPr>
              <a:t>dWETH / WINNING RIGHT</a:t>
            </a:r>
            <a:endParaRPr lang="en-US" sz="850" dirty="0"/>
          </a:p>
        </p:txBody>
      </p:sp>
      <p:sp>
        <p:nvSpPr>
          <p:cNvPr id="11" name="Shape 9"/>
          <p:cNvSpPr/>
          <p:nvPr/>
        </p:nvSpPr>
        <p:spPr>
          <a:xfrm>
            <a:off x="8622792" y="3310128"/>
            <a:ext cx="2423160" cy="0"/>
          </a:xfrm>
          <a:prstGeom prst="line">
            <a:avLst/>
          </a:prstGeom>
          <a:noFill/>
          <a:ln w="25400">
            <a:solidFill>
              <a:srgbClr val="101010"/>
            </a:solidFill>
            <a:prstDash val="solid"/>
          </a:ln>
        </p:spPr>
      </p:sp>
      <p:sp>
        <p:nvSpPr>
          <p:cNvPr id="12" name="Text 10"/>
          <p:cNvSpPr/>
          <p:nvPr/>
        </p:nvSpPr>
        <p:spPr>
          <a:xfrm>
            <a:off x="8622792" y="3703320"/>
            <a:ext cx="2194560" cy="987552"/>
          </a:xfrm>
          <a:prstGeom prst="rect">
            <a:avLst/>
          </a:prstGeom>
          <a:noFill/>
          <a:ln/>
        </p:spPr>
        <p:txBody>
          <a:bodyPr wrap="square" lIns="0" tIns="0" rIns="0" bIns="0" rtlCol="0" anchor="t">
            <a:normAutofit/>
          </a:bodyPr>
          <a:lstStyle/>
          <a:p>
            <a:pPr indent="0" marL="0">
              <a:buNone/>
            </a:pPr>
            <a:r>
              <a:rPr lang="en-US" sz="1500" b="1" dirty="0">
                <a:solidFill>
                  <a:srgbClr val="101010"/>
                </a:solidFill>
                <a:latin typeface="Courier New" pitchFamily="34" charset="0"/>
                <a:ea typeface="Courier New" pitchFamily="34" charset="-122"/>
                <a:cs typeface="Courier New" pitchFamily="34" charset="-120"/>
              </a:rPr>
              <a:t>60%  ALICE</a:t>
            </a:r>
            <a:endParaRPr lang="en-US" sz="1500" dirty="0"/>
          </a:p>
          <a:p>
            <a:pPr indent="0" marL="0">
              <a:buNone/>
            </a:pPr>
            <a:r>
              <a:rPr lang="en-US" sz="1500" b="1" dirty="0">
                <a:solidFill>
                  <a:srgbClr val="101010"/>
                </a:solidFill>
                <a:latin typeface="Courier New" pitchFamily="34" charset="0"/>
                <a:ea typeface="Courier New" pitchFamily="34" charset="-122"/>
                <a:cs typeface="Courier New" pitchFamily="34" charset="-120"/>
              </a:rPr>
              <a:t>40%  BAO</a:t>
            </a:r>
            <a:endParaRPr lang="en-US" sz="1500" dirty="0"/>
          </a:p>
          <a:p>
            <a:pPr indent="0" marL="0">
              <a:buNone/>
            </a:pPr>
            <a:r>
              <a:rPr lang="en-US" sz="1500" b="1" dirty="0">
                <a:solidFill>
                  <a:srgbClr val="101010"/>
                </a:solidFill>
                <a:latin typeface="Courier New" pitchFamily="34" charset="0"/>
                <a:ea typeface="Courier New" pitchFamily="34" charset="-122"/>
                <a:cs typeface="Courier New" pitchFamily="34" charset="-120"/>
              </a:rPr>
              <a:t> 0%  LATE LP</a:t>
            </a:r>
            <a:endParaRPr lang="en-US" sz="1500" dirty="0"/>
          </a:p>
        </p:txBody>
      </p:sp>
      <p:sp>
        <p:nvSpPr>
          <p:cNvPr id="25" name="Slide Number Placeholder 0"/>
          <p:cNvSpPr>
            <a:spLocks noGrp="1"/>
          </p:cNvSpPr>
          <p:nvPr>
            <p:ph type="sldNum" sz="quarter" idx="4294967295"/>
          </p:nvPr>
        </p:nvSpPr>
        <p:spPr>
          <a:xfrm>
            <a:off x="11567160" y="6473952"/>
            <a:ext cx="27432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101010"/>
                </a:solidFill>
                <a:latin typeface="Courier New"/>
                <a:ea typeface="Courier New"/>
                <a:cs typeface="Courier New"/>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11480" y="804672"/>
            <a:ext cx="2057400" cy="310896"/>
          </a:xfrm>
          <a:prstGeom prst="rect">
            <a:avLst/>
          </a:prstGeom>
          <a:solidFill>
            <a:srgbClr val="DCFF36"/>
          </a:solidFill>
          <a:ln w="25400">
            <a:solidFill>
              <a:srgbClr val="101010"/>
            </a:solidFill>
            <a:prstDash val="solid"/>
          </a:ln>
        </p:spPr>
      </p:sp>
      <p:sp>
        <p:nvSpPr>
          <p:cNvPr id="3" name="Text 1"/>
          <p:cNvSpPr/>
          <p:nvPr/>
        </p:nvSpPr>
        <p:spPr>
          <a:xfrm>
            <a:off x="493776" y="822960"/>
            <a:ext cx="1892808" cy="256032"/>
          </a:xfrm>
          <a:prstGeom prst="rect">
            <a:avLst/>
          </a:prstGeom>
          <a:noFill/>
          <a:ln/>
        </p:spPr>
        <p:txBody>
          <a:bodyPr wrap="square" lIns="0" tIns="0" rIns="0" bIns="0" rtlCol="0" anchor="ctr">
            <a:normAutofit/>
          </a:bodyPr>
          <a:lstStyle/>
          <a:p>
            <a:pPr indent="0" marL="0">
              <a:buNone/>
            </a:pPr>
            <a:r>
              <a:rPr lang="en-US" sz="850" b="1" spc="80" kern="0" dirty="0">
                <a:solidFill>
                  <a:srgbClr val="101010"/>
                </a:solidFill>
                <a:latin typeface="Courier New" pitchFamily="34" charset="0"/>
                <a:ea typeface="Courier New" pitchFamily="34" charset="-122"/>
                <a:cs typeface="Courier New" pitchFamily="34" charset="-120"/>
              </a:rPr>
              <a:t>01 / PROBLEM + BACKGROUND</a:t>
            </a:r>
            <a:endParaRPr lang="en-US" sz="850" dirty="0"/>
          </a:p>
        </p:txBody>
      </p:sp>
      <p:sp>
        <p:nvSpPr>
          <p:cNvPr id="4" name="Text 2"/>
          <p:cNvSpPr/>
          <p:nvPr/>
        </p:nvSpPr>
        <p:spPr>
          <a:xfrm>
            <a:off x="411480" y="1280160"/>
            <a:ext cx="11292840" cy="1115568"/>
          </a:xfrm>
          <a:prstGeom prst="rect">
            <a:avLst/>
          </a:prstGeom>
          <a:noFill/>
          <a:ln/>
        </p:spPr>
        <p:txBody>
          <a:bodyPr wrap="square" lIns="0" tIns="0" rIns="0" bIns="0" rtlCol="0" anchor="t">
            <a:normAutofit/>
          </a:bodyPr>
          <a:lstStyle/>
          <a:p>
            <a:pPr indent="0" marL="0">
              <a:buNone/>
            </a:pPr>
            <a:r>
              <a:rPr lang="en-US" sz="3900" b="1" spc="-120" kern="0" dirty="0">
                <a:solidFill>
                  <a:srgbClr val="101010"/>
                </a:solidFill>
                <a:latin typeface="Arial" pitchFamily="34" charset="0"/>
                <a:ea typeface="Arial" pitchFamily="34" charset="-122"/>
                <a:cs typeface="Arial" pitchFamily="34" charset="-120"/>
              </a:rPr>
              <a:t>ARBITRAGE REPAIRS PRICES.</a:t>
            </a:r>
            <a:endParaRPr lang="en-US" sz="3900" dirty="0"/>
          </a:p>
          <a:p>
            <a:pPr indent="0" marL="0">
              <a:buNone/>
            </a:pPr>
            <a:r>
              <a:rPr lang="en-US" sz="3900" b="1" spc="-120" kern="0" dirty="0">
                <a:solidFill>
                  <a:srgbClr val="101010"/>
                </a:solidFill>
                <a:latin typeface="Arial" pitchFamily="34" charset="0"/>
                <a:ea typeface="Arial" pitchFamily="34" charset="-122"/>
                <a:cs typeface="Arial" pitchFamily="34" charset="-120"/>
              </a:rPr>
              <a:t>LIQUIDITY PAYS THE BILL.</a:t>
            </a:r>
            <a:endParaRPr lang="en-US" sz="3900" dirty="0"/>
          </a:p>
        </p:txBody>
      </p:sp>
      <p:sp>
        <p:nvSpPr>
          <p:cNvPr id="5" name="Shape 3"/>
          <p:cNvSpPr/>
          <p:nvPr/>
        </p:nvSpPr>
        <p:spPr>
          <a:xfrm>
            <a:off x="438912" y="3840480"/>
            <a:ext cx="3520440" cy="1691640"/>
          </a:xfrm>
          <a:prstGeom prst="rect">
            <a:avLst/>
          </a:prstGeom>
          <a:solidFill>
            <a:srgbClr val="FF593D"/>
          </a:solidFill>
          <a:ln w="25400">
            <a:solidFill>
              <a:srgbClr val="101010"/>
            </a:solidFill>
            <a:prstDash val="solid"/>
          </a:ln>
        </p:spPr>
      </p:sp>
      <p:sp>
        <p:nvSpPr>
          <p:cNvPr id="6" name="Text 4"/>
          <p:cNvSpPr/>
          <p:nvPr/>
        </p:nvSpPr>
        <p:spPr>
          <a:xfrm>
            <a:off x="603504" y="4023360"/>
            <a:ext cx="2926080" cy="201168"/>
          </a:xfrm>
          <a:prstGeom prst="rect">
            <a:avLst/>
          </a:prstGeom>
          <a:noFill/>
          <a:ln/>
        </p:spPr>
        <p:txBody>
          <a:bodyPr wrap="square" lIns="0" tIns="0" rIns="0" bIns="0" rtlCol="0" anchor="ctr">
            <a:normAutofit/>
          </a:bodyPr>
          <a:lstStyle/>
          <a:p>
            <a:pPr indent="0" marL="0">
              <a:buNone/>
            </a:pPr>
            <a:r>
              <a:rPr lang="en-US" sz="850" b="1" dirty="0">
                <a:solidFill>
                  <a:srgbClr val="101010"/>
                </a:solidFill>
                <a:latin typeface="Courier New" pitchFamily="34" charset="0"/>
                <a:ea typeface="Courier New" pitchFamily="34" charset="-122"/>
                <a:cs typeface="Courier New" pitchFamily="34" charset="-120"/>
              </a:rPr>
              <a:t>EXTERNAL MARKET</a:t>
            </a:r>
            <a:endParaRPr lang="en-US" sz="850" dirty="0"/>
          </a:p>
        </p:txBody>
      </p:sp>
      <p:sp>
        <p:nvSpPr>
          <p:cNvPr id="7" name="Text 5"/>
          <p:cNvSpPr/>
          <p:nvPr/>
        </p:nvSpPr>
        <p:spPr>
          <a:xfrm>
            <a:off x="603504" y="4361688"/>
            <a:ext cx="2834640" cy="566928"/>
          </a:xfrm>
          <a:prstGeom prst="rect">
            <a:avLst/>
          </a:prstGeom>
          <a:noFill/>
          <a:ln/>
        </p:spPr>
        <p:txBody>
          <a:bodyPr wrap="square" lIns="0" tIns="0" rIns="0" bIns="0" rtlCol="0" anchor="ctr">
            <a:normAutofit/>
          </a:bodyPr>
          <a:lstStyle/>
          <a:p>
            <a:pPr indent="0" marL="0">
              <a:buNone/>
            </a:pPr>
            <a:r>
              <a:rPr lang="en-US" sz="3500" b="1" spc="-100" kern="0" dirty="0">
                <a:solidFill>
                  <a:srgbClr val="101010"/>
                </a:solidFill>
                <a:latin typeface="Arial" pitchFamily="34" charset="0"/>
                <a:ea typeface="Arial" pitchFamily="34" charset="-122"/>
                <a:cs typeface="Arial" pitchFamily="34" charset="-120"/>
              </a:rPr>
              <a:t>1.0600</a:t>
            </a:r>
            <a:endParaRPr lang="en-US" sz="3500" dirty="0"/>
          </a:p>
        </p:txBody>
      </p:sp>
      <p:sp>
        <p:nvSpPr>
          <p:cNvPr id="8" name="Text 6"/>
          <p:cNvSpPr/>
          <p:nvPr/>
        </p:nvSpPr>
        <p:spPr>
          <a:xfrm>
            <a:off x="603504" y="5047488"/>
            <a:ext cx="2926080" cy="201168"/>
          </a:xfrm>
          <a:prstGeom prst="rect">
            <a:avLst/>
          </a:prstGeom>
          <a:noFill/>
          <a:ln/>
        </p:spPr>
        <p:txBody>
          <a:bodyPr wrap="square" lIns="0" tIns="0" rIns="0" bIns="0" rtlCol="0" anchor="ctr">
            <a:normAutofit/>
          </a:bodyPr>
          <a:lstStyle/>
          <a:p>
            <a:pPr indent="0" marL="0">
              <a:buNone/>
            </a:pPr>
            <a:r>
              <a:rPr lang="en-US" sz="1100" b="1" dirty="0">
                <a:solidFill>
                  <a:srgbClr val="101010"/>
                </a:solidFill>
                <a:latin typeface="Arial" pitchFamily="34" charset="0"/>
                <a:ea typeface="Arial" pitchFamily="34" charset="-122"/>
                <a:cs typeface="Arial" pitchFamily="34" charset="-120"/>
              </a:rPr>
              <a:t>Moves first</a:t>
            </a:r>
            <a:endParaRPr lang="en-US" sz="1100" dirty="0"/>
          </a:p>
        </p:txBody>
      </p:sp>
      <p:sp>
        <p:nvSpPr>
          <p:cNvPr id="9" name="Text 7"/>
          <p:cNvSpPr/>
          <p:nvPr/>
        </p:nvSpPr>
        <p:spPr>
          <a:xfrm>
            <a:off x="4014216" y="4389120"/>
            <a:ext cx="274320" cy="365760"/>
          </a:xfrm>
          <a:prstGeom prst="rect">
            <a:avLst/>
          </a:prstGeom>
          <a:noFill/>
          <a:ln/>
        </p:spPr>
        <p:txBody>
          <a:bodyPr wrap="square" lIns="0" tIns="0" rIns="0" bIns="0" rtlCol="0" anchor="ctr">
            <a:normAutofit/>
          </a:bodyPr>
          <a:lstStyle/>
          <a:p>
            <a:pPr indent="0" marL="0">
              <a:buNone/>
            </a:pPr>
            <a:r>
              <a:rPr lang="en-US" sz="2400" b="1" dirty="0">
                <a:solidFill>
                  <a:srgbClr val="101010"/>
                </a:solidFill>
                <a:latin typeface="Arial" pitchFamily="34" charset="0"/>
                <a:ea typeface="Arial" pitchFamily="34" charset="-122"/>
                <a:cs typeface="Arial" pitchFamily="34" charset="-120"/>
              </a:rPr>
              <a:t>&gt;</a:t>
            </a:r>
            <a:endParaRPr lang="en-US" sz="2400" dirty="0"/>
          </a:p>
        </p:txBody>
      </p:sp>
      <p:sp>
        <p:nvSpPr>
          <p:cNvPr id="10" name="Shape 8"/>
          <p:cNvSpPr/>
          <p:nvPr/>
        </p:nvSpPr>
        <p:spPr>
          <a:xfrm>
            <a:off x="4325112" y="3840480"/>
            <a:ext cx="3520440" cy="1691640"/>
          </a:xfrm>
          <a:prstGeom prst="rect">
            <a:avLst/>
          </a:prstGeom>
          <a:solidFill>
            <a:srgbClr val="DCFF36"/>
          </a:solidFill>
          <a:ln w="25400">
            <a:solidFill>
              <a:srgbClr val="101010"/>
            </a:solidFill>
            <a:prstDash val="solid"/>
          </a:ln>
        </p:spPr>
      </p:sp>
      <p:sp>
        <p:nvSpPr>
          <p:cNvPr id="11" name="Text 9"/>
          <p:cNvSpPr/>
          <p:nvPr/>
        </p:nvSpPr>
        <p:spPr>
          <a:xfrm>
            <a:off x="4489704" y="4023360"/>
            <a:ext cx="2926080" cy="201168"/>
          </a:xfrm>
          <a:prstGeom prst="rect">
            <a:avLst/>
          </a:prstGeom>
          <a:noFill/>
          <a:ln/>
        </p:spPr>
        <p:txBody>
          <a:bodyPr wrap="square" lIns="0" tIns="0" rIns="0" bIns="0" rtlCol="0" anchor="ctr">
            <a:normAutofit/>
          </a:bodyPr>
          <a:lstStyle/>
          <a:p>
            <a:pPr indent="0" marL="0">
              <a:buNone/>
            </a:pPr>
            <a:r>
              <a:rPr lang="en-US" sz="850" b="1" dirty="0">
                <a:solidFill>
                  <a:srgbClr val="101010"/>
                </a:solidFill>
                <a:latin typeface="Courier New" pitchFamily="34" charset="0"/>
                <a:ea typeface="Courier New" pitchFamily="34" charset="-122"/>
                <a:cs typeface="Courier New" pitchFamily="34" charset="-120"/>
              </a:rPr>
              <a:t>STALE V4 POOL</a:t>
            </a:r>
            <a:endParaRPr lang="en-US" sz="850" dirty="0"/>
          </a:p>
        </p:txBody>
      </p:sp>
      <p:sp>
        <p:nvSpPr>
          <p:cNvPr id="12" name="Text 10"/>
          <p:cNvSpPr/>
          <p:nvPr/>
        </p:nvSpPr>
        <p:spPr>
          <a:xfrm>
            <a:off x="4489704" y="4361688"/>
            <a:ext cx="2834640" cy="566928"/>
          </a:xfrm>
          <a:prstGeom prst="rect">
            <a:avLst/>
          </a:prstGeom>
          <a:noFill/>
          <a:ln/>
        </p:spPr>
        <p:txBody>
          <a:bodyPr wrap="square" lIns="0" tIns="0" rIns="0" bIns="0" rtlCol="0" anchor="ctr">
            <a:normAutofit/>
          </a:bodyPr>
          <a:lstStyle/>
          <a:p>
            <a:pPr indent="0" marL="0">
              <a:buNone/>
            </a:pPr>
            <a:r>
              <a:rPr lang="en-US" sz="3500" b="1" spc="-100" kern="0" dirty="0">
                <a:solidFill>
                  <a:srgbClr val="101010"/>
                </a:solidFill>
                <a:latin typeface="Arial" pitchFamily="34" charset="0"/>
                <a:ea typeface="Arial" pitchFamily="34" charset="-122"/>
                <a:cs typeface="Arial" pitchFamily="34" charset="-120"/>
              </a:rPr>
              <a:t>0.9999</a:t>
            </a:r>
            <a:endParaRPr lang="en-US" sz="3500" dirty="0"/>
          </a:p>
        </p:txBody>
      </p:sp>
      <p:sp>
        <p:nvSpPr>
          <p:cNvPr id="13" name="Text 11"/>
          <p:cNvSpPr/>
          <p:nvPr/>
        </p:nvSpPr>
        <p:spPr>
          <a:xfrm>
            <a:off x="4489704" y="5047488"/>
            <a:ext cx="2926080" cy="201168"/>
          </a:xfrm>
          <a:prstGeom prst="rect">
            <a:avLst/>
          </a:prstGeom>
          <a:noFill/>
          <a:ln/>
        </p:spPr>
        <p:txBody>
          <a:bodyPr wrap="square" lIns="0" tIns="0" rIns="0" bIns="0" rtlCol="0" anchor="ctr">
            <a:normAutofit/>
          </a:bodyPr>
          <a:lstStyle/>
          <a:p>
            <a:pPr indent="0" marL="0">
              <a:buNone/>
            </a:pPr>
            <a:r>
              <a:rPr lang="en-US" sz="1100" b="1" dirty="0">
                <a:solidFill>
                  <a:srgbClr val="101010"/>
                </a:solidFill>
                <a:latin typeface="Arial" pitchFamily="34" charset="0"/>
                <a:ea typeface="Arial" pitchFamily="34" charset="-122"/>
                <a:cs typeface="Arial" pitchFamily="34" charset="-120"/>
              </a:rPr>
              <a:t>LP inventory exposed</a:t>
            </a:r>
            <a:endParaRPr lang="en-US" sz="1100" dirty="0"/>
          </a:p>
        </p:txBody>
      </p:sp>
      <p:sp>
        <p:nvSpPr>
          <p:cNvPr id="14" name="Text 12"/>
          <p:cNvSpPr/>
          <p:nvPr/>
        </p:nvSpPr>
        <p:spPr>
          <a:xfrm>
            <a:off x="7900416" y="4389120"/>
            <a:ext cx="274320" cy="365760"/>
          </a:xfrm>
          <a:prstGeom prst="rect">
            <a:avLst/>
          </a:prstGeom>
          <a:noFill/>
          <a:ln/>
        </p:spPr>
        <p:txBody>
          <a:bodyPr wrap="square" lIns="0" tIns="0" rIns="0" bIns="0" rtlCol="0" anchor="ctr">
            <a:normAutofit/>
          </a:bodyPr>
          <a:lstStyle/>
          <a:p>
            <a:pPr indent="0" marL="0">
              <a:buNone/>
            </a:pPr>
            <a:r>
              <a:rPr lang="en-US" sz="2400" b="1" dirty="0">
                <a:solidFill>
                  <a:srgbClr val="101010"/>
                </a:solidFill>
                <a:latin typeface="Arial" pitchFamily="34" charset="0"/>
                <a:ea typeface="Arial" pitchFamily="34" charset="-122"/>
                <a:cs typeface="Arial" pitchFamily="34" charset="-120"/>
              </a:rPr>
              <a:t>&gt;</a:t>
            </a:r>
            <a:endParaRPr lang="en-US" sz="2400" dirty="0"/>
          </a:p>
        </p:txBody>
      </p:sp>
      <p:sp>
        <p:nvSpPr>
          <p:cNvPr id="15" name="Shape 13"/>
          <p:cNvSpPr/>
          <p:nvPr/>
        </p:nvSpPr>
        <p:spPr>
          <a:xfrm>
            <a:off x="8211312" y="3840480"/>
            <a:ext cx="3520440" cy="1691640"/>
          </a:xfrm>
          <a:prstGeom prst="rect">
            <a:avLst/>
          </a:prstGeom>
          <a:solidFill>
            <a:srgbClr val="1746DB"/>
          </a:solidFill>
          <a:ln w="25400">
            <a:solidFill>
              <a:srgbClr val="101010"/>
            </a:solidFill>
            <a:prstDash val="solid"/>
          </a:ln>
        </p:spPr>
      </p:sp>
      <p:sp>
        <p:nvSpPr>
          <p:cNvPr id="16" name="Text 14"/>
          <p:cNvSpPr/>
          <p:nvPr/>
        </p:nvSpPr>
        <p:spPr>
          <a:xfrm>
            <a:off x="8375904" y="4023360"/>
            <a:ext cx="2926080" cy="201168"/>
          </a:xfrm>
          <a:prstGeom prst="rect">
            <a:avLst/>
          </a:prstGeom>
          <a:noFill/>
          <a:ln/>
        </p:spPr>
        <p:txBody>
          <a:bodyPr wrap="square" lIns="0" tIns="0" rIns="0" bIns="0" rtlCol="0" anchor="ctr">
            <a:normAutofit/>
          </a:bodyPr>
          <a:lstStyle/>
          <a:p>
            <a:pPr indent="0" marL="0">
              <a:buNone/>
            </a:pPr>
            <a:r>
              <a:rPr lang="en-US" sz="850" b="1" dirty="0">
                <a:solidFill>
                  <a:srgbClr val="FFFFFF"/>
                </a:solidFill>
                <a:latin typeface="Courier New" pitchFamily="34" charset="0"/>
                <a:ea typeface="Courier New" pitchFamily="34" charset="-122"/>
                <a:cs typeface="Courier New" pitchFamily="34" charset="-120"/>
              </a:rPr>
              <a:t>CORRECTION VALUE</a:t>
            </a:r>
            <a:endParaRPr lang="en-US" sz="850" dirty="0"/>
          </a:p>
        </p:txBody>
      </p:sp>
      <p:sp>
        <p:nvSpPr>
          <p:cNvPr id="17" name="Text 15"/>
          <p:cNvSpPr/>
          <p:nvPr/>
        </p:nvSpPr>
        <p:spPr>
          <a:xfrm>
            <a:off x="8375904" y="4361688"/>
            <a:ext cx="2834640" cy="566928"/>
          </a:xfrm>
          <a:prstGeom prst="rect">
            <a:avLst/>
          </a:prstGeom>
          <a:noFill/>
          <a:ln/>
        </p:spPr>
        <p:txBody>
          <a:bodyPr wrap="square" lIns="0" tIns="0" rIns="0" bIns="0" rtlCol="0" anchor="ctr">
            <a:normAutofit/>
          </a:bodyPr>
          <a:lstStyle/>
          <a:p>
            <a:pPr indent="0" marL="0">
              <a:buNone/>
            </a:pPr>
            <a:r>
              <a:rPr lang="en-US" sz="3500" b="1" spc="-100" kern="0" dirty="0">
                <a:solidFill>
                  <a:srgbClr val="FFFFFF"/>
                </a:solidFill>
                <a:latin typeface="Arial" pitchFamily="34" charset="0"/>
                <a:ea typeface="Arial" pitchFamily="34" charset="-122"/>
                <a:cs typeface="Arial" pitchFamily="34" charset="-120"/>
              </a:rPr>
              <a:t>MEV</a:t>
            </a:r>
            <a:endParaRPr lang="en-US" sz="3500" dirty="0"/>
          </a:p>
        </p:txBody>
      </p:sp>
      <p:sp>
        <p:nvSpPr>
          <p:cNvPr id="18" name="Text 16"/>
          <p:cNvSpPr/>
          <p:nvPr/>
        </p:nvSpPr>
        <p:spPr>
          <a:xfrm>
            <a:off x="8375904" y="5047488"/>
            <a:ext cx="2926080" cy="201168"/>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Arial" pitchFamily="34" charset="0"/>
                <a:ea typeface="Arial" pitchFamily="34" charset="-122"/>
                <a:cs typeface="Arial" pitchFamily="34" charset="-120"/>
              </a:rPr>
              <a:t>Leaves the pool</a:t>
            </a:r>
            <a:endParaRPr lang="en-US" sz="1100" dirty="0"/>
          </a:p>
        </p:txBody>
      </p:sp>
      <p:sp>
        <p:nvSpPr>
          <p:cNvPr id="19" name="Text 17"/>
          <p:cNvSpPr/>
          <p:nvPr/>
        </p:nvSpPr>
        <p:spPr>
          <a:xfrm>
            <a:off x="457200" y="5879592"/>
            <a:ext cx="11155680" cy="384048"/>
          </a:xfrm>
          <a:prstGeom prst="rect">
            <a:avLst/>
          </a:prstGeom>
          <a:noFill/>
          <a:ln/>
        </p:spPr>
        <p:txBody>
          <a:bodyPr wrap="square" lIns="0" tIns="0" rIns="0" bIns="0" rtlCol="0" anchor="ctr">
            <a:normAutofit/>
          </a:bodyPr>
          <a:lstStyle/>
          <a:p>
            <a:pPr algn="ctr" indent="0" marL="0">
              <a:buNone/>
            </a:pPr>
            <a:r>
              <a:rPr lang="en-US" sz="2000" b="1" i="1" dirty="0">
                <a:solidFill>
                  <a:srgbClr val="101010"/>
                </a:solidFill>
                <a:latin typeface="Arial" pitchFamily="34" charset="0"/>
                <a:ea typeface="Arial" pitchFamily="34" charset="-122"/>
                <a:cs typeface="Arial" pitchFamily="34" charset="-120"/>
              </a:rPr>
              <a:t>What if LPs could sell access to the correction before it happens?</a:t>
            </a:r>
            <a:endParaRPr lang="en-US" sz="2000" dirty="0"/>
          </a:p>
        </p:txBody>
      </p:sp>
      <p:sp>
        <p:nvSpPr>
          <p:cNvPr id="25" name="Slide Number Placeholder 0"/>
          <p:cNvSpPr>
            <a:spLocks noGrp="1"/>
          </p:cNvSpPr>
          <p:nvPr>
            <p:ph type="sldNum" sz="quarter" idx="4294967295"/>
          </p:nvPr>
        </p:nvSpPr>
        <p:spPr>
          <a:xfrm>
            <a:off x="11567160" y="6473952"/>
            <a:ext cx="27432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101010"/>
                </a:solidFill>
                <a:latin typeface="Courier New"/>
                <a:ea typeface="Courier New"/>
                <a:cs typeface="Courier New"/>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46DB"/>
        </a:solidFill>
      </p:bgPr>
    </p:bg>
    <p:spTree>
      <p:nvGrpSpPr>
        <p:cNvPr id="1" name=""/>
        <p:cNvGrpSpPr/>
        <p:nvPr/>
      </p:nvGrpSpPr>
      <p:grpSpPr>
        <a:xfrm>
          <a:off x="0" y="0"/>
          <a:ext cx="0" cy="0"/>
          <a:chOff x="0" y="0"/>
          <a:chExt cx="0" cy="0"/>
        </a:xfrm>
      </p:grpSpPr>
      <p:sp>
        <p:nvSpPr>
          <p:cNvPr id="2" name="Shape 0"/>
          <p:cNvSpPr/>
          <p:nvPr/>
        </p:nvSpPr>
        <p:spPr>
          <a:xfrm>
            <a:off x="411480" y="804672"/>
            <a:ext cx="1417320" cy="310896"/>
          </a:xfrm>
          <a:prstGeom prst="rect">
            <a:avLst/>
          </a:prstGeom>
          <a:solidFill>
            <a:srgbClr val="DCFF36"/>
          </a:solidFill>
          <a:ln w="25400">
            <a:solidFill>
              <a:srgbClr val="101010"/>
            </a:solidFill>
            <a:prstDash val="solid"/>
          </a:ln>
        </p:spPr>
      </p:sp>
      <p:sp>
        <p:nvSpPr>
          <p:cNvPr id="3" name="Text 1"/>
          <p:cNvSpPr/>
          <p:nvPr/>
        </p:nvSpPr>
        <p:spPr>
          <a:xfrm>
            <a:off x="493776" y="822960"/>
            <a:ext cx="1252728" cy="256032"/>
          </a:xfrm>
          <a:prstGeom prst="rect">
            <a:avLst/>
          </a:prstGeom>
          <a:noFill/>
          <a:ln/>
        </p:spPr>
        <p:txBody>
          <a:bodyPr wrap="square" lIns="0" tIns="0" rIns="0" bIns="0" rtlCol="0" anchor="ctr">
            <a:normAutofit/>
          </a:bodyPr>
          <a:lstStyle/>
          <a:p>
            <a:pPr indent="0" marL="0">
              <a:buNone/>
            </a:pPr>
            <a:r>
              <a:rPr lang="en-US" sz="850" b="1" spc="80" kern="0" dirty="0">
                <a:solidFill>
                  <a:srgbClr val="101010"/>
                </a:solidFill>
                <a:latin typeface="Courier New" pitchFamily="34" charset="0"/>
                <a:ea typeface="Courier New" pitchFamily="34" charset="-122"/>
                <a:cs typeface="Courier New" pitchFamily="34" charset="-120"/>
              </a:rPr>
              <a:t>02 / THE PRIMITIVE</a:t>
            </a:r>
            <a:endParaRPr lang="en-US" sz="850" dirty="0"/>
          </a:p>
        </p:txBody>
      </p:sp>
      <p:sp>
        <p:nvSpPr>
          <p:cNvPr id="4" name="Text 2"/>
          <p:cNvSpPr/>
          <p:nvPr/>
        </p:nvSpPr>
        <p:spPr>
          <a:xfrm>
            <a:off x="411480" y="1234440"/>
            <a:ext cx="11292840" cy="1115568"/>
          </a:xfrm>
          <a:prstGeom prst="rect">
            <a:avLst/>
          </a:prstGeom>
          <a:noFill/>
          <a:ln/>
        </p:spPr>
        <p:txBody>
          <a:bodyPr wrap="square" lIns="0" tIns="0" rIns="0" bIns="0" rtlCol="0" anchor="t">
            <a:normAutofit/>
          </a:bodyPr>
          <a:lstStyle/>
          <a:p>
            <a:pPr indent="0" marL="0">
              <a:buNone/>
            </a:pPr>
            <a:r>
              <a:rPr lang="en-US" sz="4200" b="1" spc="-120" kern="0" dirty="0">
                <a:solidFill>
                  <a:srgbClr val="FFFFFF"/>
                </a:solidFill>
                <a:latin typeface="Arial" pitchFamily="34" charset="0"/>
                <a:ea typeface="Arial" pitchFamily="34" charset="-122"/>
                <a:cs typeface="Arial" pitchFamily="34" charset="-120"/>
              </a:rPr>
              <a:t>ONE EVENT. ONE RIGHT.</a:t>
            </a:r>
            <a:endParaRPr lang="en-US" sz="4200" dirty="0"/>
          </a:p>
          <a:p>
            <a:pPr indent="0" marL="0">
              <a:buNone/>
            </a:pPr>
            <a:r>
              <a:rPr lang="en-US" sz="4200" b="1" spc="-120" kern="0" dirty="0">
                <a:solidFill>
                  <a:srgbClr val="FFFFFF"/>
                </a:solidFill>
                <a:latin typeface="Arial" pitchFamily="34" charset="0"/>
                <a:ea typeface="Arial" pitchFamily="34" charset="-122"/>
                <a:cs typeface="Arial" pitchFamily="34" charset="-120"/>
              </a:rPr>
              <a:t>ONE ACCOUNTABLE ROUTE.</a:t>
            </a:r>
            <a:endParaRPr lang="en-US" sz="4200" dirty="0"/>
          </a:p>
        </p:txBody>
      </p:sp>
      <p:sp>
        <p:nvSpPr>
          <p:cNvPr id="5" name="Shape 3"/>
          <p:cNvSpPr/>
          <p:nvPr/>
        </p:nvSpPr>
        <p:spPr>
          <a:xfrm>
            <a:off x="429768" y="3456432"/>
            <a:ext cx="2651760" cy="2212848"/>
          </a:xfrm>
          <a:prstGeom prst="rect">
            <a:avLst/>
          </a:prstGeom>
          <a:solidFill>
            <a:srgbClr val="F5EEDA"/>
          </a:solidFill>
          <a:ln w="25400">
            <a:solidFill>
              <a:srgbClr val="101010"/>
            </a:solidFill>
            <a:prstDash val="solid"/>
          </a:ln>
        </p:spPr>
      </p:sp>
      <p:sp>
        <p:nvSpPr>
          <p:cNvPr id="6" name="Text 4"/>
          <p:cNvSpPr/>
          <p:nvPr/>
        </p:nvSpPr>
        <p:spPr>
          <a:xfrm>
            <a:off x="594360" y="3630168"/>
            <a:ext cx="457200" cy="256032"/>
          </a:xfrm>
          <a:prstGeom prst="rect">
            <a:avLst/>
          </a:prstGeom>
          <a:noFill/>
          <a:ln/>
        </p:spPr>
        <p:txBody>
          <a:bodyPr wrap="square" lIns="0" tIns="0" rIns="0" bIns="0" rtlCol="0" anchor="ctr">
            <a:normAutofit/>
          </a:bodyPr>
          <a:lstStyle/>
          <a:p>
            <a:pPr indent="0" marL="0">
              <a:buNone/>
            </a:pPr>
            <a:r>
              <a:rPr lang="en-US" sz="1000" b="1" dirty="0">
                <a:solidFill>
                  <a:srgbClr val="101010"/>
                </a:solidFill>
                <a:latin typeface="Courier New" pitchFamily="34" charset="0"/>
                <a:ea typeface="Courier New" pitchFamily="34" charset="-122"/>
                <a:cs typeface="Courier New" pitchFamily="34" charset="-120"/>
              </a:rPr>
              <a:t>01</a:t>
            </a:r>
            <a:endParaRPr lang="en-US" sz="1000" dirty="0"/>
          </a:p>
        </p:txBody>
      </p:sp>
      <p:sp>
        <p:nvSpPr>
          <p:cNvPr id="7" name="Text 5"/>
          <p:cNvSpPr/>
          <p:nvPr/>
        </p:nvSpPr>
        <p:spPr>
          <a:xfrm>
            <a:off x="594360" y="4087368"/>
            <a:ext cx="2103120" cy="384048"/>
          </a:xfrm>
          <a:prstGeom prst="rect">
            <a:avLst/>
          </a:prstGeom>
          <a:noFill/>
          <a:ln/>
        </p:spPr>
        <p:txBody>
          <a:bodyPr wrap="square" lIns="0" tIns="0" rIns="0" bIns="0" rtlCol="0" anchor="ctr">
            <a:normAutofit/>
          </a:bodyPr>
          <a:lstStyle/>
          <a:p>
            <a:pPr indent="0" marL="0">
              <a:buNone/>
            </a:pPr>
            <a:r>
              <a:rPr lang="en-US" sz="2300" b="1" dirty="0">
                <a:solidFill>
                  <a:srgbClr val="101010"/>
                </a:solidFill>
                <a:latin typeface="Arial" pitchFamily="34" charset="0"/>
                <a:ea typeface="Arial" pitchFamily="34" charset="-122"/>
                <a:cs typeface="Arial" pitchFamily="34" charset="-120"/>
              </a:rPr>
              <a:t>DETECT</a:t>
            </a:r>
            <a:endParaRPr lang="en-US" sz="2300" dirty="0"/>
          </a:p>
        </p:txBody>
      </p:sp>
      <p:sp>
        <p:nvSpPr>
          <p:cNvPr id="8" name="Text 6"/>
          <p:cNvSpPr/>
          <p:nvPr/>
        </p:nvSpPr>
        <p:spPr>
          <a:xfrm>
            <a:off x="594360" y="4700016"/>
            <a:ext cx="2240280" cy="566928"/>
          </a:xfrm>
          <a:prstGeom prst="rect">
            <a:avLst/>
          </a:prstGeom>
          <a:noFill/>
          <a:ln/>
        </p:spPr>
        <p:txBody>
          <a:bodyPr wrap="square" lIns="0" tIns="0" rIns="0" bIns="0" rtlCol="0" anchor="t">
            <a:normAutofit/>
          </a:bodyPr>
          <a:lstStyle/>
          <a:p>
            <a:pPr indent="0" marL="0">
              <a:buNone/>
            </a:pPr>
            <a:r>
              <a:rPr lang="en-US" sz="1200" b="1" dirty="0">
                <a:solidFill>
                  <a:srgbClr val="101010"/>
                </a:solidFill>
                <a:latin typeface="Arial" pitchFamily="34" charset="0"/>
                <a:ea typeface="Arial" pitchFamily="34" charset="-122"/>
                <a:cs typeface="Arial" pitchFamily="34" charset="-120"/>
              </a:rPr>
              <a:t>Reactive sees the price dislocation</a:t>
            </a:r>
            <a:endParaRPr lang="en-US" sz="1200" dirty="0"/>
          </a:p>
        </p:txBody>
      </p:sp>
      <p:sp>
        <p:nvSpPr>
          <p:cNvPr id="9" name="Shape 7"/>
          <p:cNvSpPr/>
          <p:nvPr/>
        </p:nvSpPr>
        <p:spPr>
          <a:xfrm>
            <a:off x="3300984" y="3456432"/>
            <a:ext cx="2651760" cy="2212848"/>
          </a:xfrm>
          <a:prstGeom prst="rect">
            <a:avLst/>
          </a:prstGeom>
          <a:solidFill>
            <a:srgbClr val="DCFF36"/>
          </a:solidFill>
          <a:ln w="25400">
            <a:solidFill>
              <a:srgbClr val="101010"/>
            </a:solidFill>
            <a:prstDash val="solid"/>
          </a:ln>
        </p:spPr>
      </p:sp>
      <p:sp>
        <p:nvSpPr>
          <p:cNvPr id="10" name="Text 8"/>
          <p:cNvSpPr/>
          <p:nvPr/>
        </p:nvSpPr>
        <p:spPr>
          <a:xfrm>
            <a:off x="3465576" y="3630168"/>
            <a:ext cx="457200" cy="256032"/>
          </a:xfrm>
          <a:prstGeom prst="rect">
            <a:avLst/>
          </a:prstGeom>
          <a:noFill/>
          <a:ln/>
        </p:spPr>
        <p:txBody>
          <a:bodyPr wrap="square" lIns="0" tIns="0" rIns="0" bIns="0" rtlCol="0" anchor="ctr">
            <a:normAutofit/>
          </a:bodyPr>
          <a:lstStyle/>
          <a:p>
            <a:pPr indent="0" marL="0">
              <a:buNone/>
            </a:pPr>
            <a:r>
              <a:rPr lang="en-US" sz="1000" b="1" dirty="0">
                <a:solidFill>
                  <a:srgbClr val="101010"/>
                </a:solidFill>
                <a:latin typeface="Courier New" pitchFamily="34" charset="0"/>
                <a:ea typeface="Courier New" pitchFamily="34" charset="-122"/>
                <a:cs typeface="Courier New" pitchFamily="34" charset="-120"/>
              </a:rPr>
              <a:t>02</a:t>
            </a:r>
            <a:endParaRPr lang="en-US" sz="1000" dirty="0"/>
          </a:p>
        </p:txBody>
      </p:sp>
      <p:sp>
        <p:nvSpPr>
          <p:cNvPr id="11" name="Text 9"/>
          <p:cNvSpPr/>
          <p:nvPr/>
        </p:nvSpPr>
        <p:spPr>
          <a:xfrm>
            <a:off x="3465576" y="4087368"/>
            <a:ext cx="2103120" cy="384048"/>
          </a:xfrm>
          <a:prstGeom prst="rect">
            <a:avLst/>
          </a:prstGeom>
          <a:noFill/>
          <a:ln/>
        </p:spPr>
        <p:txBody>
          <a:bodyPr wrap="square" lIns="0" tIns="0" rIns="0" bIns="0" rtlCol="0" anchor="ctr">
            <a:normAutofit/>
          </a:bodyPr>
          <a:lstStyle/>
          <a:p>
            <a:pPr indent="0" marL="0">
              <a:buNone/>
            </a:pPr>
            <a:r>
              <a:rPr lang="en-US" sz="2300" b="1" dirty="0">
                <a:solidFill>
                  <a:srgbClr val="101010"/>
                </a:solidFill>
                <a:latin typeface="Arial" pitchFamily="34" charset="0"/>
                <a:ea typeface="Arial" pitchFamily="34" charset="-122"/>
                <a:cs typeface="Arial" pitchFamily="34" charset="-120"/>
              </a:rPr>
              <a:t>AUCTION</a:t>
            </a:r>
            <a:endParaRPr lang="en-US" sz="2300" dirty="0"/>
          </a:p>
        </p:txBody>
      </p:sp>
      <p:sp>
        <p:nvSpPr>
          <p:cNvPr id="12" name="Text 10"/>
          <p:cNvSpPr/>
          <p:nvPr/>
        </p:nvSpPr>
        <p:spPr>
          <a:xfrm>
            <a:off x="3465576" y="4700016"/>
            <a:ext cx="2240280" cy="566928"/>
          </a:xfrm>
          <a:prstGeom prst="rect">
            <a:avLst/>
          </a:prstGeom>
          <a:noFill/>
          <a:ln/>
        </p:spPr>
        <p:txBody>
          <a:bodyPr wrap="square" lIns="0" tIns="0" rIns="0" bIns="0" rtlCol="0" anchor="t">
            <a:normAutofit/>
          </a:bodyPr>
          <a:lstStyle/>
          <a:p>
            <a:pPr indent="0" marL="0">
              <a:buNone/>
            </a:pPr>
            <a:r>
              <a:rPr lang="en-US" sz="1200" b="1" dirty="0">
                <a:solidFill>
                  <a:srgbClr val="101010"/>
                </a:solidFill>
                <a:latin typeface="Arial" pitchFamily="34" charset="0"/>
                <a:ea typeface="Arial" pitchFamily="34" charset="-122"/>
                <a:cs typeface="Arial" pitchFamily="34" charset="-120"/>
              </a:rPr>
              <a:t>Searchers price one correction</a:t>
            </a:r>
            <a:endParaRPr lang="en-US" sz="1200" dirty="0"/>
          </a:p>
        </p:txBody>
      </p:sp>
      <p:sp>
        <p:nvSpPr>
          <p:cNvPr id="13" name="Shape 11"/>
          <p:cNvSpPr/>
          <p:nvPr/>
        </p:nvSpPr>
        <p:spPr>
          <a:xfrm>
            <a:off x="6172200" y="3456432"/>
            <a:ext cx="2651760" cy="2212848"/>
          </a:xfrm>
          <a:prstGeom prst="rect">
            <a:avLst/>
          </a:prstGeom>
          <a:solidFill>
            <a:srgbClr val="FF593D"/>
          </a:solidFill>
          <a:ln w="25400">
            <a:solidFill>
              <a:srgbClr val="101010"/>
            </a:solidFill>
            <a:prstDash val="solid"/>
          </a:ln>
        </p:spPr>
      </p:sp>
      <p:sp>
        <p:nvSpPr>
          <p:cNvPr id="14" name="Text 12"/>
          <p:cNvSpPr/>
          <p:nvPr/>
        </p:nvSpPr>
        <p:spPr>
          <a:xfrm>
            <a:off x="6336792" y="3630168"/>
            <a:ext cx="457200" cy="256032"/>
          </a:xfrm>
          <a:prstGeom prst="rect">
            <a:avLst/>
          </a:prstGeom>
          <a:noFill/>
          <a:ln/>
        </p:spPr>
        <p:txBody>
          <a:bodyPr wrap="square" lIns="0" tIns="0" rIns="0" bIns="0" rtlCol="0" anchor="ctr">
            <a:normAutofit/>
          </a:bodyPr>
          <a:lstStyle/>
          <a:p>
            <a:pPr indent="0" marL="0">
              <a:buNone/>
            </a:pPr>
            <a:r>
              <a:rPr lang="en-US" sz="1000" b="1" dirty="0">
                <a:solidFill>
                  <a:srgbClr val="101010"/>
                </a:solidFill>
                <a:latin typeface="Courier New" pitchFamily="34" charset="0"/>
                <a:ea typeface="Courier New" pitchFamily="34" charset="-122"/>
                <a:cs typeface="Courier New" pitchFamily="34" charset="-120"/>
              </a:rPr>
              <a:t>03</a:t>
            </a:r>
            <a:endParaRPr lang="en-US" sz="1000" dirty="0"/>
          </a:p>
        </p:txBody>
      </p:sp>
      <p:sp>
        <p:nvSpPr>
          <p:cNvPr id="15" name="Text 13"/>
          <p:cNvSpPr/>
          <p:nvPr/>
        </p:nvSpPr>
        <p:spPr>
          <a:xfrm>
            <a:off x="6336792" y="4087368"/>
            <a:ext cx="2103120" cy="384048"/>
          </a:xfrm>
          <a:prstGeom prst="rect">
            <a:avLst/>
          </a:prstGeom>
          <a:noFill/>
          <a:ln/>
        </p:spPr>
        <p:txBody>
          <a:bodyPr wrap="square" lIns="0" tIns="0" rIns="0" bIns="0" rtlCol="0" anchor="ctr">
            <a:normAutofit/>
          </a:bodyPr>
          <a:lstStyle/>
          <a:p>
            <a:pPr indent="0" marL="0">
              <a:buNone/>
            </a:pPr>
            <a:r>
              <a:rPr lang="en-US" sz="2300" b="1" dirty="0">
                <a:solidFill>
                  <a:srgbClr val="101010"/>
                </a:solidFill>
                <a:latin typeface="Arial" pitchFamily="34" charset="0"/>
                <a:ea typeface="Arial" pitchFamily="34" charset="-122"/>
                <a:cs typeface="Arial" pitchFamily="34" charset="-120"/>
              </a:rPr>
              <a:t>ENFORCE</a:t>
            </a:r>
            <a:endParaRPr lang="en-US" sz="2300" dirty="0"/>
          </a:p>
        </p:txBody>
      </p:sp>
      <p:sp>
        <p:nvSpPr>
          <p:cNvPr id="16" name="Text 14"/>
          <p:cNvSpPr/>
          <p:nvPr/>
        </p:nvSpPr>
        <p:spPr>
          <a:xfrm>
            <a:off x="6336792" y="4700016"/>
            <a:ext cx="2240280" cy="566928"/>
          </a:xfrm>
          <a:prstGeom prst="rect">
            <a:avLst/>
          </a:prstGeom>
          <a:noFill/>
          <a:ln/>
        </p:spPr>
        <p:txBody>
          <a:bodyPr wrap="square" lIns="0" tIns="0" rIns="0" bIns="0" rtlCol="0" anchor="t">
            <a:normAutofit/>
          </a:bodyPr>
          <a:lstStyle/>
          <a:p>
            <a:pPr indent="0" marL="0">
              <a:buNone/>
            </a:pPr>
            <a:r>
              <a:rPr lang="en-US" sz="1200" b="1" dirty="0">
                <a:solidFill>
                  <a:srgbClr val="101010"/>
                </a:solidFill>
                <a:latin typeface="Arial" pitchFamily="34" charset="0"/>
                <a:ea typeface="Arial" pitchFamily="34" charset="-122"/>
                <a:cs typeface="Arial" pitchFamily="34" charset="-120"/>
              </a:rPr>
              <a:t>v4 hook checks the bounded permit</a:t>
            </a:r>
            <a:endParaRPr lang="en-US" sz="1200" dirty="0"/>
          </a:p>
        </p:txBody>
      </p:sp>
      <p:sp>
        <p:nvSpPr>
          <p:cNvPr id="17" name="Shape 15"/>
          <p:cNvSpPr/>
          <p:nvPr/>
        </p:nvSpPr>
        <p:spPr>
          <a:xfrm>
            <a:off x="9043416" y="3456432"/>
            <a:ext cx="2651760" cy="2212848"/>
          </a:xfrm>
          <a:prstGeom prst="rect">
            <a:avLst/>
          </a:prstGeom>
          <a:solidFill>
            <a:srgbClr val="101010"/>
          </a:solidFill>
          <a:ln w="25400">
            <a:solidFill>
              <a:srgbClr val="101010"/>
            </a:solidFill>
            <a:prstDash val="solid"/>
          </a:ln>
        </p:spPr>
      </p:sp>
      <p:sp>
        <p:nvSpPr>
          <p:cNvPr id="18" name="Text 16"/>
          <p:cNvSpPr/>
          <p:nvPr/>
        </p:nvSpPr>
        <p:spPr>
          <a:xfrm>
            <a:off x="9208008" y="3630168"/>
            <a:ext cx="457200" cy="256032"/>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ourier New" pitchFamily="34" charset="0"/>
                <a:ea typeface="Courier New" pitchFamily="34" charset="-122"/>
                <a:cs typeface="Courier New" pitchFamily="34" charset="-120"/>
              </a:rPr>
              <a:t>04</a:t>
            </a:r>
            <a:endParaRPr lang="en-US" sz="1000" dirty="0"/>
          </a:p>
        </p:txBody>
      </p:sp>
      <p:sp>
        <p:nvSpPr>
          <p:cNvPr id="19" name="Text 17"/>
          <p:cNvSpPr/>
          <p:nvPr/>
        </p:nvSpPr>
        <p:spPr>
          <a:xfrm>
            <a:off x="9208008" y="4087368"/>
            <a:ext cx="2103120" cy="384048"/>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rial" pitchFamily="34" charset="0"/>
                <a:ea typeface="Arial" pitchFamily="34" charset="-122"/>
                <a:cs typeface="Arial" pitchFamily="34" charset="-120"/>
              </a:rPr>
              <a:t>RETURN</a:t>
            </a:r>
            <a:endParaRPr lang="en-US" sz="2300" dirty="0"/>
          </a:p>
        </p:txBody>
      </p:sp>
      <p:sp>
        <p:nvSpPr>
          <p:cNvPr id="20" name="Text 18"/>
          <p:cNvSpPr/>
          <p:nvPr/>
        </p:nvSpPr>
        <p:spPr>
          <a:xfrm>
            <a:off x="9208008" y="4700016"/>
            <a:ext cx="2240280" cy="566928"/>
          </a:xfrm>
          <a:prstGeom prst="rect">
            <a:avLst/>
          </a:prstGeom>
          <a:noFill/>
          <a:ln/>
        </p:spPr>
        <p:txBody>
          <a:bodyPr wrap="square" lIns="0" tIns="0" rIns="0" bIns="0" rtlCol="0" anchor="t">
            <a:normAutofit/>
          </a:bodyPr>
          <a:lstStyle/>
          <a:p>
            <a:pPr indent="0" marL="0">
              <a:buNone/>
            </a:pPr>
            <a:r>
              <a:rPr lang="en-US" sz="1200" b="1" dirty="0">
                <a:solidFill>
                  <a:srgbClr val="FFFFFF"/>
                </a:solidFill>
                <a:latin typeface="Arial" pitchFamily="34" charset="0"/>
                <a:ea typeface="Arial" pitchFamily="34" charset="-122"/>
                <a:cs typeface="Arial" pitchFamily="34" charset="-120"/>
              </a:rPr>
              <a:t>Winning bid flows to snapshot LPs</a:t>
            </a:r>
            <a:endParaRPr lang="en-US" sz="1200" dirty="0"/>
          </a:p>
        </p:txBody>
      </p:sp>
      <p:sp>
        <p:nvSpPr>
          <p:cNvPr id="21" name="Text 19"/>
          <p:cNvSpPr/>
          <p:nvPr/>
        </p:nvSpPr>
        <p:spPr>
          <a:xfrm>
            <a:off x="457200" y="5989320"/>
            <a:ext cx="11155680" cy="228600"/>
          </a:xfrm>
          <a:prstGeom prst="rect">
            <a:avLst/>
          </a:prstGeom>
          <a:noFill/>
          <a:ln/>
        </p:spPr>
        <p:txBody>
          <a:bodyPr wrap="square" lIns="0" tIns="0" rIns="0" bIns="0" rtlCol="0" anchor="ctr">
            <a:normAutofit/>
          </a:bodyPr>
          <a:lstStyle/>
          <a:p>
            <a:pPr algn="ctr" indent="0" marL="0">
              <a:buNone/>
            </a:pPr>
            <a:r>
              <a:rPr lang="en-US" sz="950" b="1" spc="100" kern="0" dirty="0">
                <a:solidFill>
                  <a:srgbClr val="DCFF36"/>
                </a:solidFill>
                <a:latin typeface="Courier New" pitchFamily="34" charset="0"/>
                <a:ea typeface="Courier New" pitchFamily="34" charset="-122"/>
                <a:cs typeface="Courier New" pitchFamily="34" charset="-120"/>
              </a:rPr>
              <a:t>WINNER / NONCE / DIRECTION / INPUT / DEADLINE / PRICE GUARD</a:t>
            </a:r>
            <a:endParaRPr lang="en-US" sz="950" dirty="0"/>
          </a:p>
        </p:txBody>
      </p:sp>
      <p:sp>
        <p:nvSpPr>
          <p:cNvPr id="25" name="Slide Number Placeholder 0"/>
          <p:cNvSpPr>
            <a:spLocks noGrp="1"/>
          </p:cNvSpPr>
          <p:nvPr>
            <p:ph type="sldNum" sz="quarter" idx="4294967295"/>
          </p:nvPr>
        </p:nvSpPr>
        <p:spPr>
          <a:xfrm>
            <a:off x="11567160" y="6473952"/>
            <a:ext cx="27432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101010"/>
                </a:solidFill>
                <a:latin typeface="Courier New"/>
                <a:ea typeface="Courier New"/>
                <a:cs typeface="Courier New"/>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11480" y="804672"/>
            <a:ext cx="1965960" cy="310896"/>
          </a:xfrm>
          <a:prstGeom prst="rect">
            <a:avLst/>
          </a:prstGeom>
          <a:solidFill>
            <a:srgbClr val="DCFF36"/>
          </a:solidFill>
          <a:ln w="25400">
            <a:solidFill>
              <a:srgbClr val="101010"/>
            </a:solidFill>
            <a:prstDash val="solid"/>
          </a:ln>
        </p:spPr>
      </p:sp>
      <p:sp>
        <p:nvSpPr>
          <p:cNvPr id="3" name="Text 1"/>
          <p:cNvSpPr/>
          <p:nvPr/>
        </p:nvSpPr>
        <p:spPr>
          <a:xfrm>
            <a:off x="493776" y="822960"/>
            <a:ext cx="1801368" cy="256032"/>
          </a:xfrm>
          <a:prstGeom prst="rect">
            <a:avLst/>
          </a:prstGeom>
          <a:noFill/>
          <a:ln/>
        </p:spPr>
        <p:txBody>
          <a:bodyPr wrap="square" lIns="0" tIns="0" rIns="0" bIns="0" rtlCol="0" anchor="ctr">
            <a:normAutofit/>
          </a:bodyPr>
          <a:lstStyle/>
          <a:p>
            <a:pPr indent="0" marL="0">
              <a:buNone/>
            </a:pPr>
            <a:r>
              <a:rPr lang="en-US" sz="850" b="1" spc="80" kern="0" dirty="0">
                <a:solidFill>
                  <a:srgbClr val="101010"/>
                </a:solidFill>
                <a:latin typeface="Courier New" pitchFamily="34" charset="0"/>
                <a:ea typeface="Courier New" pitchFamily="34" charset="-122"/>
                <a:cs typeface="Courier New" pitchFamily="34" charset="-120"/>
              </a:rPr>
              <a:t>03 / CROSS-CHAIN EXECUTION</a:t>
            </a:r>
            <a:endParaRPr lang="en-US" sz="850" dirty="0"/>
          </a:p>
        </p:txBody>
      </p:sp>
      <p:sp>
        <p:nvSpPr>
          <p:cNvPr id="4" name="Text 2"/>
          <p:cNvSpPr/>
          <p:nvPr/>
        </p:nvSpPr>
        <p:spPr>
          <a:xfrm>
            <a:off x="411480" y="1261872"/>
            <a:ext cx="11292840" cy="1115568"/>
          </a:xfrm>
          <a:prstGeom prst="rect">
            <a:avLst/>
          </a:prstGeom>
          <a:noFill/>
          <a:ln/>
        </p:spPr>
        <p:txBody>
          <a:bodyPr wrap="square" lIns="0" tIns="0" rIns="0" bIns="0" rtlCol="0" anchor="t">
            <a:normAutofit/>
          </a:bodyPr>
          <a:lstStyle/>
          <a:p>
            <a:pPr indent="0" marL="0">
              <a:buNone/>
            </a:pPr>
            <a:r>
              <a:rPr lang="en-US" sz="4200" b="1" spc="-120" kern="0" dirty="0">
                <a:solidFill>
                  <a:srgbClr val="101010"/>
                </a:solidFill>
                <a:latin typeface="Arial" pitchFamily="34" charset="0"/>
                <a:ea typeface="Arial" pitchFamily="34" charset="-122"/>
                <a:cs typeface="Arial" pitchFamily="34" charset="-120"/>
              </a:rPr>
              <a:t>SIGNAL THERE.</a:t>
            </a:r>
            <a:endParaRPr lang="en-US" sz="4200" dirty="0"/>
          </a:p>
          <a:p>
            <a:pPr indent="0" marL="0">
              <a:buNone/>
            </a:pPr>
            <a:r>
              <a:rPr lang="en-US" sz="4200" b="1" spc="-120" kern="0" dirty="0">
                <a:solidFill>
                  <a:srgbClr val="101010"/>
                </a:solidFill>
                <a:latin typeface="Arial" pitchFamily="34" charset="0"/>
                <a:ea typeface="Arial" pitchFamily="34" charset="-122"/>
                <a:cs typeface="Arial" pitchFamily="34" charset="-120"/>
              </a:rPr>
              <a:t>ENFORCEMENT HERE.</a:t>
            </a:r>
            <a:endParaRPr lang="en-US" sz="4200" dirty="0"/>
          </a:p>
        </p:txBody>
      </p:sp>
      <p:sp>
        <p:nvSpPr>
          <p:cNvPr id="5" name="Shape 3"/>
          <p:cNvSpPr/>
          <p:nvPr/>
        </p:nvSpPr>
        <p:spPr>
          <a:xfrm>
            <a:off x="438912" y="3383280"/>
            <a:ext cx="3520440" cy="2212848"/>
          </a:xfrm>
          <a:prstGeom prst="rect">
            <a:avLst/>
          </a:prstGeom>
          <a:solidFill>
            <a:srgbClr val="FF593D"/>
          </a:solidFill>
          <a:ln w="25400">
            <a:solidFill>
              <a:srgbClr val="101010"/>
            </a:solidFill>
            <a:prstDash val="solid"/>
          </a:ln>
        </p:spPr>
      </p:sp>
      <p:sp>
        <p:nvSpPr>
          <p:cNvPr id="6" name="Text 4"/>
          <p:cNvSpPr/>
          <p:nvPr/>
        </p:nvSpPr>
        <p:spPr>
          <a:xfrm>
            <a:off x="603504" y="3602736"/>
            <a:ext cx="2926080" cy="219456"/>
          </a:xfrm>
          <a:prstGeom prst="rect">
            <a:avLst/>
          </a:prstGeom>
          <a:noFill/>
          <a:ln/>
        </p:spPr>
        <p:txBody>
          <a:bodyPr wrap="square" lIns="0" tIns="0" rIns="0" bIns="0" rtlCol="0" anchor="ctr">
            <a:normAutofit/>
          </a:bodyPr>
          <a:lstStyle/>
          <a:p>
            <a:pPr indent="0" marL="0">
              <a:buNone/>
            </a:pPr>
            <a:r>
              <a:rPr lang="en-US" sz="900" b="1" dirty="0">
                <a:solidFill>
                  <a:srgbClr val="101010"/>
                </a:solidFill>
                <a:latin typeface="Courier New" pitchFamily="34" charset="0"/>
                <a:ea typeface="Courier New" pitchFamily="34" charset="-122"/>
                <a:cs typeface="Courier New" pitchFamily="34" charset="-120"/>
              </a:rPr>
              <a:t>BASE SEPOLIA</a:t>
            </a:r>
            <a:endParaRPr lang="en-US" sz="900" dirty="0"/>
          </a:p>
        </p:txBody>
      </p:sp>
      <p:sp>
        <p:nvSpPr>
          <p:cNvPr id="7" name="Text 5"/>
          <p:cNvSpPr/>
          <p:nvPr/>
        </p:nvSpPr>
        <p:spPr>
          <a:xfrm>
            <a:off x="603504" y="4050792"/>
            <a:ext cx="2926080" cy="438912"/>
          </a:xfrm>
          <a:prstGeom prst="rect">
            <a:avLst/>
          </a:prstGeom>
          <a:noFill/>
          <a:ln/>
        </p:spPr>
        <p:txBody>
          <a:bodyPr wrap="square" lIns="0" tIns="0" rIns="0" bIns="0" rtlCol="0" anchor="ctr">
            <a:normAutofit/>
          </a:bodyPr>
          <a:lstStyle/>
          <a:p>
            <a:pPr indent="0" marL="0">
              <a:buNone/>
            </a:pPr>
            <a:r>
              <a:rPr lang="en-US" sz="2700" b="1" dirty="0">
                <a:solidFill>
                  <a:srgbClr val="101010"/>
                </a:solidFill>
                <a:latin typeface="Arial" pitchFamily="34" charset="0"/>
                <a:ea typeface="Arial" pitchFamily="34" charset="-122"/>
                <a:cs typeface="Arial" pitchFamily="34" charset="-120"/>
              </a:rPr>
              <a:t>REFERENCE</a:t>
            </a:r>
            <a:endParaRPr lang="en-US" sz="2700" dirty="0"/>
          </a:p>
        </p:txBody>
      </p:sp>
      <p:sp>
        <p:nvSpPr>
          <p:cNvPr id="8" name="Text 6"/>
          <p:cNvSpPr/>
          <p:nvPr/>
        </p:nvSpPr>
        <p:spPr>
          <a:xfrm>
            <a:off x="603504" y="4800600"/>
            <a:ext cx="2971800" cy="347472"/>
          </a:xfrm>
          <a:prstGeom prst="rect">
            <a:avLst/>
          </a:prstGeom>
          <a:noFill/>
          <a:ln/>
        </p:spPr>
        <p:txBody>
          <a:bodyPr wrap="square" lIns="0" tIns="0" rIns="0" bIns="0" rtlCol="0" anchor="ctr">
            <a:normAutofit/>
          </a:bodyPr>
          <a:lstStyle/>
          <a:p>
            <a:pPr indent="0" marL="0">
              <a:buNone/>
            </a:pPr>
            <a:r>
              <a:rPr lang="en-US" sz="1200" b="1" dirty="0">
                <a:solidFill>
                  <a:srgbClr val="101010"/>
                </a:solidFill>
                <a:latin typeface="Arial" pitchFamily="34" charset="0"/>
                <a:ea typeface="Arial" pitchFamily="34" charset="-122"/>
                <a:cs typeface="Arial" pitchFamily="34" charset="-120"/>
              </a:rPr>
              <a:t>Controlled price event</a:t>
            </a:r>
            <a:endParaRPr lang="en-US" sz="1200" dirty="0"/>
          </a:p>
        </p:txBody>
      </p:sp>
      <p:sp>
        <p:nvSpPr>
          <p:cNvPr id="9" name="Text 7"/>
          <p:cNvSpPr/>
          <p:nvPr/>
        </p:nvSpPr>
        <p:spPr>
          <a:xfrm>
            <a:off x="4005072" y="4206240"/>
            <a:ext cx="274320" cy="365760"/>
          </a:xfrm>
          <a:prstGeom prst="rect">
            <a:avLst/>
          </a:prstGeom>
          <a:noFill/>
          <a:ln/>
        </p:spPr>
        <p:txBody>
          <a:bodyPr wrap="square" lIns="0" tIns="0" rIns="0" bIns="0" rtlCol="0" anchor="ctr">
            <a:normAutofit/>
          </a:bodyPr>
          <a:lstStyle/>
          <a:p>
            <a:pPr indent="0" marL="0">
              <a:buNone/>
            </a:pPr>
            <a:r>
              <a:rPr lang="en-US" sz="2500" b="1" dirty="0">
                <a:solidFill>
                  <a:srgbClr val="101010"/>
                </a:solidFill>
                <a:latin typeface="Arial" pitchFamily="34" charset="0"/>
                <a:ea typeface="Arial" pitchFamily="34" charset="-122"/>
                <a:cs typeface="Arial" pitchFamily="34" charset="-120"/>
              </a:rPr>
              <a:t>&gt;</a:t>
            </a:r>
            <a:endParaRPr lang="en-US" sz="2500" dirty="0"/>
          </a:p>
        </p:txBody>
      </p:sp>
      <p:sp>
        <p:nvSpPr>
          <p:cNvPr id="10" name="Shape 8"/>
          <p:cNvSpPr/>
          <p:nvPr/>
        </p:nvSpPr>
        <p:spPr>
          <a:xfrm>
            <a:off x="4306824" y="3383280"/>
            <a:ext cx="3520440" cy="2212848"/>
          </a:xfrm>
          <a:prstGeom prst="rect">
            <a:avLst/>
          </a:prstGeom>
          <a:solidFill>
            <a:srgbClr val="DCFF36"/>
          </a:solidFill>
          <a:ln w="25400">
            <a:solidFill>
              <a:srgbClr val="101010"/>
            </a:solidFill>
            <a:prstDash val="solid"/>
          </a:ln>
        </p:spPr>
      </p:sp>
      <p:sp>
        <p:nvSpPr>
          <p:cNvPr id="11" name="Text 9"/>
          <p:cNvSpPr/>
          <p:nvPr/>
        </p:nvSpPr>
        <p:spPr>
          <a:xfrm>
            <a:off x="4471416" y="3602736"/>
            <a:ext cx="2926080" cy="219456"/>
          </a:xfrm>
          <a:prstGeom prst="rect">
            <a:avLst/>
          </a:prstGeom>
          <a:noFill/>
          <a:ln/>
        </p:spPr>
        <p:txBody>
          <a:bodyPr wrap="square" lIns="0" tIns="0" rIns="0" bIns="0" rtlCol="0" anchor="ctr">
            <a:normAutofit/>
          </a:bodyPr>
          <a:lstStyle/>
          <a:p>
            <a:pPr indent="0" marL="0">
              <a:buNone/>
            </a:pPr>
            <a:r>
              <a:rPr lang="en-US" sz="900" b="1" dirty="0">
                <a:solidFill>
                  <a:srgbClr val="101010"/>
                </a:solidFill>
                <a:latin typeface="Courier New" pitchFamily="34" charset="0"/>
                <a:ea typeface="Courier New" pitchFamily="34" charset="-122"/>
                <a:cs typeface="Courier New" pitchFamily="34" charset="-120"/>
              </a:rPr>
              <a:t>REACTIVE LASNA</a:t>
            </a:r>
            <a:endParaRPr lang="en-US" sz="900" dirty="0"/>
          </a:p>
        </p:txBody>
      </p:sp>
      <p:sp>
        <p:nvSpPr>
          <p:cNvPr id="12" name="Text 10"/>
          <p:cNvSpPr/>
          <p:nvPr/>
        </p:nvSpPr>
        <p:spPr>
          <a:xfrm>
            <a:off x="4471416" y="4050792"/>
            <a:ext cx="2926080" cy="438912"/>
          </a:xfrm>
          <a:prstGeom prst="rect">
            <a:avLst/>
          </a:prstGeom>
          <a:noFill/>
          <a:ln/>
        </p:spPr>
        <p:txBody>
          <a:bodyPr wrap="square" lIns="0" tIns="0" rIns="0" bIns="0" rtlCol="0" anchor="ctr">
            <a:normAutofit/>
          </a:bodyPr>
          <a:lstStyle/>
          <a:p>
            <a:pPr indent="0" marL="0">
              <a:buNone/>
            </a:pPr>
            <a:r>
              <a:rPr lang="en-US" sz="2700" b="1" dirty="0">
                <a:solidFill>
                  <a:srgbClr val="101010"/>
                </a:solidFill>
                <a:latin typeface="Arial" pitchFamily="34" charset="0"/>
                <a:ea typeface="Arial" pitchFamily="34" charset="-122"/>
                <a:cs typeface="Arial" pitchFamily="34" charset="-120"/>
              </a:rPr>
              <a:t>COORDINATE</a:t>
            </a:r>
            <a:endParaRPr lang="en-US" sz="2700" dirty="0"/>
          </a:p>
        </p:txBody>
      </p:sp>
      <p:sp>
        <p:nvSpPr>
          <p:cNvPr id="13" name="Text 11"/>
          <p:cNvSpPr/>
          <p:nvPr/>
        </p:nvSpPr>
        <p:spPr>
          <a:xfrm>
            <a:off x="4471416" y="4800600"/>
            <a:ext cx="2971800" cy="347472"/>
          </a:xfrm>
          <a:prstGeom prst="rect">
            <a:avLst/>
          </a:prstGeom>
          <a:noFill/>
          <a:ln/>
        </p:spPr>
        <p:txBody>
          <a:bodyPr wrap="square" lIns="0" tIns="0" rIns="0" bIns="0" rtlCol="0" anchor="ctr">
            <a:normAutofit/>
          </a:bodyPr>
          <a:lstStyle/>
          <a:p>
            <a:pPr indent="0" marL="0">
              <a:buNone/>
            </a:pPr>
            <a:r>
              <a:rPr lang="en-US" sz="1200" b="1" dirty="0">
                <a:solidFill>
                  <a:srgbClr val="101010"/>
                </a:solidFill>
                <a:latin typeface="Arial" pitchFamily="34" charset="0"/>
                <a:ea typeface="Arial" pitchFamily="34" charset="-122"/>
                <a:cs typeface="Arial" pitchFamily="34" charset="-120"/>
              </a:rPr>
              <a:t>Observe, deduplicate, callback</a:t>
            </a:r>
            <a:endParaRPr lang="en-US" sz="1200" dirty="0"/>
          </a:p>
        </p:txBody>
      </p:sp>
      <p:sp>
        <p:nvSpPr>
          <p:cNvPr id="14" name="Text 12"/>
          <p:cNvSpPr/>
          <p:nvPr/>
        </p:nvSpPr>
        <p:spPr>
          <a:xfrm>
            <a:off x="7872984" y="4206240"/>
            <a:ext cx="274320" cy="365760"/>
          </a:xfrm>
          <a:prstGeom prst="rect">
            <a:avLst/>
          </a:prstGeom>
          <a:noFill/>
          <a:ln/>
        </p:spPr>
        <p:txBody>
          <a:bodyPr wrap="square" lIns="0" tIns="0" rIns="0" bIns="0" rtlCol="0" anchor="ctr">
            <a:normAutofit/>
          </a:bodyPr>
          <a:lstStyle/>
          <a:p>
            <a:pPr indent="0" marL="0">
              <a:buNone/>
            </a:pPr>
            <a:r>
              <a:rPr lang="en-US" sz="2500" b="1" dirty="0">
                <a:solidFill>
                  <a:srgbClr val="101010"/>
                </a:solidFill>
                <a:latin typeface="Arial" pitchFamily="34" charset="0"/>
                <a:ea typeface="Arial" pitchFamily="34" charset="-122"/>
                <a:cs typeface="Arial" pitchFamily="34" charset="-120"/>
              </a:rPr>
              <a:t>&gt;</a:t>
            </a:r>
            <a:endParaRPr lang="en-US" sz="2500" dirty="0"/>
          </a:p>
        </p:txBody>
      </p:sp>
      <p:sp>
        <p:nvSpPr>
          <p:cNvPr id="15" name="Shape 13"/>
          <p:cNvSpPr/>
          <p:nvPr/>
        </p:nvSpPr>
        <p:spPr>
          <a:xfrm>
            <a:off x="8174736" y="3383280"/>
            <a:ext cx="3520440" cy="2212848"/>
          </a:xfrm>
          <a:prstGeom prst="rect">
            <a:avLst/>
          </a:prstGeom>
          <a:solidFill>
            <a:srgbClr val="1746DB"/>
          </a:solidFill>
          <a:ln w="25400">
            <a:solidFill>
              <a:srgbClr val="101010"/>
            </a:solidFill>
            <a:prstDash val="solid"/>
          </a:ln>
        </p:spPr>
      </p:sp>
      <p:sp>
        <p:nvSpPr>
          <p:cNvPr id="16" name="Text 14"/>
          <p:cNvSpPr/>
          <p:nvPr/>
        </p:nvSpPr>
        <p:spPr>
          <a:xfrm>
            <a:off x="8339328" y="3602736"/>
            <a:ext cx="2926080" cy="219456"/>
          </a:xfrm>
          <a:prstGeom prst="rect">
            <a:avLst/>
          </a:prstGeom>
          <a:noFill/>
          <a:ln/>
        </p:spPr>
        <p:txBody>
          <a:bodyPr wrap="square" lIns="0" tIns="0" rIns="0" bIns="0" rtlCol="0" anchor="ctr">
            <a:normAutofit/>
          </a:bodyPr>
          <a:lstStyle/>
          <a:p>
            <a:pPr indent="0" marL="0">
              <a:buNone/>
            </a:pPr>
            <a:r>
              <a:rPr lang="en-US" sz="900" b="1" dirty="0">
                <a:solidFill>
                  <a:srgbClr val="FFFFFF"/>
                </a:solidFill>
                <a:latin typeface="Courier New" pitchFamily="34" charset="0"/>
                <a:ea typeface="Courier New" pitchFamily="34" charset="-122"/>
                <a:cs typeface="Courier New" pitchFamily="34" charset="-120"/>
              </a:rPr>
              <a:t>UNICHAIN</a:t>
            </a:r>
            <a:endParaRPr lang="en-US" sz="900" dirty="0"/>
          </a:p>
        </p:txBody>
      </p:sp>
      <p:sp>
        <p:nvSpPr>
          <p:cNvPr id="17" name="Text 15"/>
          <p:cNvSpPr/>
          <p:nvPr/>
        </p:nvSpPr>
        <p:spPr>
          <a:xfrm>
            <a:off x="8339328" y="4050792"/>
            <a:ext cx="2926080" cy="438912"/>
          </a:xfrm>
          <a:prstGeom prst="rect">
            <a:avLst/>
          </a:prstGeom>
          <a:noFill/>
          <a:ln/>
        </p:spPr>
        <p:txBody>
          <a:bodyPr wrap="square" lIns="0" tIns="0" rIns="0" bIns="0" rtlCol="0" anchor="ctr">
            <a:normAutofit/>
          </a:bodyPr>
          <a:lstStyle/>
          <a:p>
            <a:pPr indent="0" marL="0">
              <a:buNone/>
            </a:pPr>
            <a:r>
              <a:rPr lang="en-US" sz="2700" b="1" dirty="0">
                <a:solidFill>
                  <a:srgbClr val="FFFFFF"/>
                </a:solidFill>
                <a:latin typeface="Arial" pitchFamily="34" charset="0"/>
                <a:ea typeface="Arial" pitchFamily="34" charset="-122"/>
                <a:cs typeface="Arial" pitchFamily="34" charset="-120"/>
              </a:rPr>
              <a:t>SETTLE</a:t>
            </a:r>
            <a:endParaRPr lang="en-US" sz="2700" dirty="0"/>
          </a:p>
        </p:txBody>
      </p:sp>
      <p:sp>
        <p:nvSpPr>
          <p:cNvPr id="18" name="Text 16"/>
          <p:cNvSpPr/>
          <p:nvPr/>
        </p:nvSpPr>
        <p:spPr>
          <a:xfrm>
            <a:off x="8339328" y="4800600"/>
            <a:ext cx="2971800" cy="347472"/>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Arial" pitchFamily="34" charset="0"/>
                <a:ea typeface="Arial" pitchFamily="34" charset="-122"/>
                <a:cs typeface="Arial" pitchFamily="34" charset="-120"/>
              </a:rPr>
              <a:t>Auction, v4 swap, LP claims</a:t>
            </a:r>
            <a:endParaRPr lang="en-US" sz="1200" dirty="0"/>
          </a:p>
        </p:txBody>
      </p:sp>
      <p:sp>
        <p:nvSpPr>
          <p:cNvPr id="19" name="Shape 17"/>
          <p:cNvSpPr/>
          <p:nvPr/>
        </p:nvSpPr>
        <p:spPr>
          <a:xfrm>
            <a:off x="438912" y="5806440"/>
            <a:ext cx="11256264" cy="493776"/>
          </a:xfrm>
          <a:prstGeom prst="rect">
            <a:avLst/>
          </a:prstGeom>
          <a:solidFill>
            <a:srgbClr val="101010"/>
          </a:solidFill>
          <a:ln w="25400">
            <a:solidFill>
              <a:srgbClr val="101010"/>
            </a:solidFill>
            <a:prstDash val="solid"/>
          </a:ln>
        </p:spPr>
      </p:sp>
      <p:sp>
        <p:nvSpPr>
          <p:cNvPr id="20" name="Text 18"/>
          <p:cNvSpPr/>
          <p:nvPr/>
        </p:nvSpPr>
        <p:spPr>
          <a:xfrm>
            <a:off x="658368" y="5925312"/>
            <a:ext cx="10789920" cy="19202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beforeSwap validates  |  PoolManager swaps  |  afterSwap consumes and allocates</a:t>
            </a:r>
            <a:endParaRPr lang="en-US" sz="1000" dirty="0"/>
          </a:p>
        </p:txBody>
      </p:sp>
      <p:sp>
        <p:nvSpPr>
          <p:cNvPr id="25" name="Slide Number Placeholder 0"/>
          <p:cNvSpPr>
            <a:spLocks noGrp="1"/>
          </p:cNvSpPr>
          <p:nvPr>
            <p:ph type="sldNum" sz="quarter" idx="4294967295"/>
          </p:nvPr>
        </p:nvSpPr>
        <p:spPr>
          <a:xfrm>
            <a:off x="11567160" y="6473952"/>
            <a:ext cx="27432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101010"/>
                </a:solidFill>
                <a:latin typeface="Courier New"/>
                <a:ea typeface="Courier New"/>
                <a:cs typeface="Courier New"/>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593D"/>
        </a:solidFill>
      </p:bgPr>
    </p:bg>
    <p:spTree>
      <p:nvGrpSpPr>
        <p:cNvPr id="1" name=""/>
        <p:cNvGrpSpPr/>
        <p:nvPr/>
      </p:nvGrpSpPr>
      <p:grpSpPr>
        <a:xfrm>
          <a:off x="0" y="0"/>
          <a:ext cx="0" cy="0"/>
          <a:chOff x="0" y="0"/>
          <a:chExt cx="0" cy="0"/>
        </a:xfrm>
      </p:grpSpPr>
      <p:sp>
        <p:nvSpPr>
          <p:cNvPr id="2" name="Shape 0"/>
          <p:cNvSpPr/>
          <p:nvPr/>
        </p:nvSpPr>
        <p:spPr>
          <a:xfrm>
            <a:off x="411480" y="804672"/>
            <a:ext cx="1572768" cy="310896"/>
          </a:xfrm>
          <a:prstGeom prst="rect">
            <a:avLst/>
          </a:prstGeom>
          <a:solidFill>
            <a:srgbClr val="F5EEDA"/>
          </a:solidFill>
          <a:ln w="25400">
            <a:solidFill>
              <a:srgbClr val="101010"/>
            </a:solidFill>
            <a:prstDash val="solid"/>
          </a:ln>
        </p:spPr>
      </p:sp>
      <p:sp>
        <p:nvSpPr>
          <p:cNvPr id="3" name="Text 1"/>
          <p:cNvSpPr/>
          <p:nvPr/>
        </p:nvSpPr>
        <p:spPr>
          <a:xfrm>
            <a:off x="493776" y="822960"/>
            <a:ext cx="1408176" cy="256032"/>
          </a:xfrm>
          <a:prstGeom prst="rect">
            <a:avLst/>
          </a:prstGeom>
          <a:noFill/>
          <a:ln/>
        </p:spPr>
        <p:txBody>
          <a:bodyPr wrap="square" lIns="0" tIns="0" rIns="0" bIns="0" rtlCol="0" anchor="ctr">
            <a:normAutofit/>
          </a:bodyPr>
          <a:lstStyle/>
          <a:p>
            <a:pPr indent="0" marL="0">
              <a:buNone/>
            </a:pPr>
            <a:r>
              <a:rPr lang="en-US" sz="850" b="1" spc="80" kern="0" dirty="0">
                <a:solidFill>
                  <a:srgbClr val="101010"/>
                </a:solidFill>
                <a:latin typeface="Courier New" pitchFamily="34" charset="0"/>
                <a:ea typeface="Courier New" pitchFamily="34" charset="-122"/>
                <a:cs typeface="Courier New" pitchFamily="34" charset="-120"/>
              </a:rPr>
              <a:t>04 / PROOF + IMPACT</a:t>
            </a:r>
            <a:endParaRPr lang="en-US" sz="850" dirty="0"/>
          </a:p>
        </p:txBody>
      </p:sp>
      <p:sp>
        <p:nvSpPr>
          <p:cNvPr id="4" name="Text 2"/>
          <p:cNvSpPr/>
          <p:nvPr/>
        </p:nvSpPr>
        <p:spPr>
          <a:xfrm>
            <a:off x="411480" y="1234440"/>
            <a:ext cx="11292840" cy="1115568"/>
          </a:xfrm>
          <a:prstGeom prst="rect">
            <a:avLst/>
          </a:prstGeom>
          <a:noFill/>
          <a:ln/>
        </p:spPr>
        <p:txBody>
          <a:bodyPr wrap="square" lIns="0" tIns="0" rIns="0" bIns="0" rtlCol="0" anchor="t">
            <a:normAutofit/>
          </a:bodyPr>
          <a:lstStyle/>
          <a:p>
            <a:pPr indent="0" marL="0">
              <a:buNone/>
            </a:pPr>
            <a:r>
              <a:rPr lang="en-US" sz="4100" b="1" spc="-120" kern="0" dirty="0">
                <a:solidFill>
                  <a:srgbClr val="101010"/>
                </a:solidFill>
                <a:latin typeface="Arial" pitchFamily="34" charset="0"/>
                <a:ea typeface="Arial" pitchFamily="34" charset="-122"/>
                <a:cs typeface="Arial" pitchFamily="34" charset="-120"/>
              </a:rPr>
              <a:t>MEV COMPETITION BECOMES</a:t>
            </a:r>
            <a:endParaRPr lang="en-US" sz="4100" dirty="0"/>
          </a:p>
          <a:p>
            <a:pPr indent="0" marL="0">
              <a:buNone/>
            </a:pPr>
            <a:r>
              <a:rPr lang="en-US" sz="4100" b="1" spc="-120" kern="0" dirty="0">
                <a:solidFill>
                  <a:srgbClr val="101010"/>
                </a:solidFill>
                <a:latin typeface="Arial" pitchFamily="34" charset="0"/>
                <a:ea typeface="Arial" pitchFamily="34" charset="-122"/>
                <a:cs typeface="Arial" pitchFamily="34" charset="-120"/>
              </a:rPr>
              <a:t>LP REVENUE.</a:t>
            </a:r>
            <a:endParaRPr lang="en-US" sz="4100" dirty="0"/>
          </a:p>
        </p:txBody>
      </p:sp>
      <p:sp>
        <p:nvSpPr>
          <p:cNvPr id="5" name="Shape 3"/>
          <p:cNvSpPr/>
          <p:nvPr/>
        </p:nvSpPr>
        <p:spPr>
          <a:xfrm>
            <a:off x="438912" y="3657600"/>
            <a:ext cx="2697480" cy="1938528"/>
          </a:xfrm>
          <a:prstGeom prst="rect">
            <a:avLst/>
          </a:prstGeom>
          <a:solidFill>
            <a:srgbClr val="1746DB"/>
          </a:solidFill>
          <a:ln w="25400">
            <a:solidFill>
              <a:srgbClr val="101010"/>
            </a:solidFill>
            <a:prstDash val="solid"/>
          </a:ln>
        </p:spPr>
      </p:sp>
      <p:sp>
        <p:nvSpPr>
          <p:cNvPr id="6" name="Text 4"/>
          <p:cNvSpPr/>
          <p:nvPr/>
        </p:nvSpPr>
        <p:spPr>
          <a:xfrm>
            <a:off x="603504" y="3950208"/>
            <a:ext cx="2286000" cy="640080"/>
          </a:xfrm>
          <a:prstGeom prst="rect">
            <a:avLst/>
          </a:prstGeom>
          <a:noFill/>
          <a:ln/>
        </p:spPr>
        <p:txBody>
          <a:bodyPr wrap="square" lIns="0" tIns="0" rIns="0" bIns="0" rtlCol="0" anchor="ctr">
            <a:normAutofit/>
          </a:bodyPr>
          <a:lstStyle/>
          <a:p>
            <a:pPr indent="0" marL="0">
              <a:buNone/>
            </a:pPr>
            <a:r>
              <a:rPr lang="en-US" sz="4000" b="1" spc="-120" kern="0" dirty="0">
                <a:solidFill>
                  <a:srgbClr val="FFFFFF"/>
                </a:solidFill>
                <a:latin typeface="Arial" pitchFamily="34" charset="0"/>
                <a:ea typeface="Arial" pitchFamily="34" charset="-122"/>
                <a:cs typeface="Arial" pitchFamily="34" charset="-120"/>
              </a:rPr>
              <a:t>100%</a:t>
            </a:r>
            <a:endParaRPr lang="en-US" sz="4000" dirty="0"/>
          </a:p>
        </p:txBody>
      </p:sp>
      <p:sp>
        <p:nvSpPr>
          <p:cNvPr id="7" name="Text 5"/>
          <p:cNvSpPr/>
          <p:nvPr/>
        </p:nvSpPr>
        <p:spPr>
          <a:xfrm>
            <a:off x="603504" y="4800600"/>
            <a:ext cx="2286000" cy="438912"/>
          </a:xfrm>
          <a:prstGeom prst="rect">
            <a:avLst/>
          </a:prstGeom>
          <a:noFill/>
          <a:ln/>
        </p:spPr>
        <p:txBody>
          <a:bodyPr wrap="square" lIns="0" tIns="0" rIns="0" bIns="0" rtlCol="0" anchor="t">
            <a:normAutofit/>
          </a:bodyPr>
          <a:lstStyle/>
          <a:p>
            <a:pPr indent="0" marL="0">
              <a:buNone/>
            </a:pPr>
            <a:r>
              <a:rPr lang="en-US" sz="1100" b="1" dirty="0">
                <a:solidFill>
                  <a:srgbClr val="FFFFFF"/>
                </a:solidFill>
                <a:latin typeface="Arial" pitchFamily="34" charset="0"/>
                <a:ea typeface="Arial" pitchFamily="34" charset="-122"/>
                <a:cs typeface="Arial" pitchFamily="34" charset="-120"/>
              </a:rPr>
              <a:t>winning bid allocated to eligible LP shares</a:t>
            </a:r>
            <a:endParaRPr lang="en-US" sz="1100" dirty="0"/>
          </a:p>
        </p:txBody>
      </p:sp>
      <p:sp>
        <p:nvSpPr>
          <p:cNvPr id="8" name="Shape 6"/>
          <p:cNvSpPr/>
          <p:nvPr/>
        </p:nvSpPr>
        <p:spPr>
          <a:xfrm>
            <a:off x="3383280" y="3657600"/>
            <a:ext cx="2697480" cy="1938528"/>
          </a:xfrm>
          <a:prstGeom prst="rect">
            <a:avLst/>
          </a:prstGeom>
          <a:solidFill>
            <a:srgbClr val="DCFF36"/>
          </a:solidFill>
          <a:ln w="25400">
            <a:solidFill>
              <a:srgbClr val="101010"/>
            </a:solidFill>
            <a:prstDash val="solid"/>
          </a:ln>
        </p:spPr>
      </p:sp>
      <p:sp>
        <p:nvSpPr>
          <p:cNvPr id="9" name="Text 7"/>
          <p:cNvSpPr/>
          <p:nvPr/>
        </p:nvSpPr>
        <p:spPr>
          <a:xfrm>
            <a:off x="3547872" y="3950208"/>
            <a:ext cx="2286000" cy="640080"/>
          </a:xfrm>
          <a:prstGeom prst="rect">
            <a:avLst/>
          </a:prstGeom>
          <a:noFill/>
          <a:ln/>
        </p:spPr>
        <p:txBody>
          <a:bodyPr wrap="square" lIns="0" tIns="0" rIns="0" bIns="0" rtlCol="0" anchor="ctr">
            <a:normAutofit/>
          </a:bodyPr>
          <a:lstStyle/>
          <a:p>
            <a:pPr indent="0" marL="0">
              <a:buNone/>
            </a:pPr>
            <a:r>
              <a:rPr lang="en-US" sz="4000" b="1" spc="-120" kern="0" dirty="0">
                <a:solidFill>
                  <a:srgbClr val="101010"/>
                </a:solidFill>
                <a:latin typeface="Arial" pitchFamily="34" charset="0"/>
                <a:ea typeface="Arial" pitchFamily="34" charset="-122"/>
                <a:cs typeface="Arial" pitchFamily="34" charset="-120"/>
              </a:rPr>
              <a:t>O(1)</a:t>
            </a:r>
            <a:endParaRPr lang="en-US" sz="4000" dirty="0"/>
          </a:p>
        </p:txBody>
      </p:sp>
      <p:sp>
        <p:nvSpPr>
          <p:cNvPr id="10" name="Text 8"/>
          <p:cNvSpPr/>
          <p:nvPr/>
        </p:nvSpPr>
        <p:spPr>
          <a:xfrm>
            <a:off x="3547872" y="4800600"/>
            <a:ext cx="2286000" cy="438912"/>
          </a:xfrm>
          <a:prstGeom prst="rect">
            <a:avLst/>
          </a:prstGeom>
          <a:noFill/>
          <a:ln/>
        </p:spPr>
        <p:txBody>
          <a:bodyPr wrap="square" lIns="0" tIns="0" rIns="0" bIns="0" rtlCol="0" anchor="t">
            <a:normAutofit/>
          </a:bodyPr>
          <a:lstStyle/>
          <a:p>
            <a:pPr indent="0" marL="0">
              <a:buNone/>
            </a:pPr>
            <a:r>
              <a:rPr lang="en-US" sz="1100" b="1" dirty="0">
                <a:solidFill>
                  <a:srgbClr val="101010"/>
                </a:solidFill>
                <a:latin typeface="Arial" pitchFamily="34" charset="0"/>
                <a:ea typeface="Arial" pitchFamily="34" charset="-122"/>
                <a:cs typeface="Arial" pitchFamily="34" charset="-120"/>
              </a:rPr>
              <a:t>reward allocation without an LP loop</a:t>
            </a:r>
            <a:endParaRPr lang="en-US" sz="1100" dirty="0"/>
          </a:p>
        </p:txBody>
      </p:sp>
      <p:sp>
        <p:nvSpPr>
          <p:cNvPr id="11" name="Shape 9"/>
          <p:cNvSpPr/>
          <p:nvPr/>
        </p:nvSpPr>
        <p:spPr>
          <a:xfrm>
            <a:off x="6327648" y="3657600"/>
            <a:ext cx="2697480" cy="1938528"/>
          </a:xfrm>
          <a:prstGeom prst="rect">
            <a:avLst/>
          </a:prstGeom>
          <a:solidFill>
            <a:srgbClr val="101010"/>
          </a:solidFill>
          <a:ln w="25400">
            <a:solidFill>
              <a:srgbClr val="101010"/>
            </a:solidFill>
            <a:prstDash val="solid"/>
          </a:ln>
        </p:spPr>
      </p:sp>
      <p:sp>
        <p:nvSpPr>
          <p:cNvPr id="12" name="Text 10"/>
          <p:cNvSpPr/>
          <p:nvPr/>
        </p:nvSpPr>
        <p:spPr>
          <a:xfrm>
            <a:off x="6492240" y="3950208"/>
            <a:ext cx="2286000" cy="640080"/>
          </a:xfrm>
          <a:prstGeom prst="rect">
            <a:avLst/>
          </a:prstGeom>
          <a:noFill/>
          <a:ln/>
        </p:spPr>
        <p:txBody>
          <a:bodyPr wrap="square" lIns="0" tIns="0" rIns="0" bIns="0" rtlCol="0" anchor="ctr">
            <a:normAutofit/>
          </a:bodyPr>
          <a:lstStyle/>
          <a:p>
            <a:pPr indent="0" marL="0">
              <a:buNone/>
            </a:pPr>
            <a:r>
              <a:rPr lang="en-US" sz="4000" b="1" spc="-120" kern="0" dirty="0">
                <a:solidFill>
                  <a:srgbClr val="FFFFFF"/>
                </a:solidFill>
                <a:latin typeface="Arial" pitchFamily="34" charset="0"/>
                <a:ea typeface="Arial" pitchFamily="34" charset="-122"/>
                <a:cs typeface="Arial" pitchFamily="34" charset="-120"/>
              </a:rPr>
              <a:t>1x</a:t>
            </a:r>
            <a:endParaRPr lang="en-US" sz="4000" dirty="0"/>
          </a:p>
        </p:txBody>
      </p:sp>
      <p:sp>
        <p:nvSpPr>
          <p:cNvPr id="13" name="Text 11"/>
          <p:cNvSpPr/>
          <p:nvPr/>
        </p:nvSpPr>
        <p:spPr>
          <a:xfrm>
            <a:off x="6492240" y="4800600"/>
            <a:ext cx="2286000" cy="438912"/>
          </a:xfrm>
          <a:prstGeom prst="rect">
            <a:avLst/>
          </a:prstGeom>
          <a:noFill/>
          <a:ln/>
        </p:spPr>
        <p:txBody>
          <a:bodyPr wrap="square" lIns="0" tIns="0" rIns="0" bIns="0" rtlCol="0" anchor="t">
            <a:normAutofit/>
          </a:bodyPr>
          <a:lstStyle/>
          <a:p>
            <a:pPr indent="0" marL="0">
              <a:buNone/>
            </a:pPr>
            <a:r>
              <a:rPr lang="en-US" sz="1100" b="1" dirty="0">
                <a:solidFill>
                  <a:srgbClr val="FFFFFF"/>
                </a:solidFill>
                <a:latin typeface="Arial" pitchFamily="34" charset="0"/>
                <a:ea typeface="Arial" pitchFamily="34" charset="-122"/>
                <a:cs typeface="Arial" pitchFamily="34" charset="-120"/>
              </a:rPr>
              <a:t>single-use winner-bound permit</a:t>
            </a:r>
            <a:endParaRPr lang="en-US" sz="1100" dirty="0"/>
          </a:p>
        </p:txBody>
      </p:sp>
      <p:sp>
        <p:nvSpPr>
          <p:cNvPr id="14" name="Shape 12"/>
          <p:cNvSpPr/>
          <p:nvPr/>
        </p:nvSpPr>
        <p:spPr>
          <a:xfrm>
            <a:off x="9253728" y="3346704"/>
            <a:ext cx="2450592" cy="2487168"/>
          </a:xfrm>
          <a:prstGeom prst="rect">
            <a:avLst/>
          </a:prstGeom>
          <a:solidFill>
            <a:srgbClr val="F5EEDA"/>
          </a:solidFill>
          <a:ln w="25400">
            <a:solidFill>
              <a:srgbClr val="101010"/>
            </a:solidFill>
            <a:prstDash val="solid"/>
          </a:ln>
        </p:spPr>
      </p:sp>
      <p:sp>
        <p:nvSpPr>
          <p:cNvPr id="15" name="Text 13"/>
          <p:cNvSpPr/>
          <p:nvPr/>
        </p:nvSpPr>
        <p:spPr>
          <a:xfrm>
            <a:off x="9454896" y="3621024"/>
            <a:ext cx="2011680" cy="347472"/>
          </a:xfrm>
          <a:prstGeom prst="rect">
            <a:avLst/>
          </a:prstGeom>
          <a:noFill/>
          <a:ln/>
        </p:spPr>
        <p:txBody>
          <a:bodyPr wrap="square" lIns="0" tIns="0" rIns="0" bIns="0" rtlCol="0" anchor="ctr">
            <a:normAutofit/>
          </a:bodyPr>
          <a:lstStyle/>
          <a:p>
            <a:pPr indent="0" marL="0">
              <a:buNone/>
            </a:pPr>
            <a:r>
              <a:rPr lang="en-US" sz="2200" b="1" dirty="0">
                <a:solidFill>
                  <a:srgbClr val="1746DB"/>
                </a:solidFill>
                <a:latin typeface="Arial" pitchFamily="34" charset="0"/>
                <a:ea typeface="Arial" pitchFamily="34" charset="-122"/>
                <a:cs typeface="Arial" pitchFamily="34" charset="-120"/>
              </a:rPr>
              <a:t>1.50 dWETH</a:t>
            </a:r>
            <a:endParaRPr lang="en-US" sz="2200" dirty="0"/>
          </a:p>
        </p:txBody>
      </p:sp>
      <p:sp>
        <p:nvSpPr>
          <p:cNvPr id="16" name="Text 14"/>
          <p:cNvSpPr/>
          <p:nvPr/>
        </p:nvSpPr>
        <p:spPr>
          <a:xfrm>
            <a:off x="9454896" y="4297680"/>
            <a:ext cx="1901952" cy="987552"/>
          </a:xfrm>
          <a:prstGeom prst="rect">
            <a:avLst/>
          </a:prstGeom>
          <a:noFill/>
          <a:ln/>
        </p:spPr>
        <p:txBody>
          <a:bodyPr wrap="square" lIns="0" tIns="0" rIns="0" bIns="0" rtlCol="0" anchor="t">
            <a:normAutofit/>
          </a:bodyPr>
          <a:lstStyle/>
          <a:p>
            <a:pPr indent="0" marL="0">
              <a:buNone/>
            </a:pPr>
            <a:r>
              <a:rPr lang="en-US" sz="1200" b="1" dirty="0">
                <a:solidFill>
                  <a:srgbClr val="101010"/>
                </a:solidFill>
                <a:latin typeface="Courier New" pitchFamily="34" charset="0"/>
                <a:ea typeface="Courier New" pitchFamily="34" charset="-122"/>
                <a:cs typeface="Courier New" pitchFamily="34" charset="-120"/>
              </a:rPr>
              <a:t>ALICE  60%  0.90</a:t>
            </a:r>
            <a:endParaRPr lang="en-US" sz="1200" dirty="0"/>
          </a:p>
          <a:p>
            <a:pPr indent="0" marL="0">
              <a:buNone/>
            </a:pPr>
            <a:r>
              <a:rPr lang="en-US" sz="1200" b="1" dirty="0">
                <a:solidFill>
                  <a:srgbClr val="101010"/>
                </a:solidFill>
                <a:latin typeface="Courier New" pitchFamily="34" charset="0"/>
                <a:ea typeface="Courier New" pitchFamily="34" charset="-122"/>
                <a:cs typeface="Courier New" pitchFamily="34" charset="-120"/>
              </a:rPr>
              <a:t>BAO    40%  0.60</a:t>
            </a:r>
            <a:endParaRPr lang="en-US" sz="1200" dirty="0"/>
          </a:p>
          <a:p>
            <a:pPr indent="0" marL="0">
              <a:buNone/>
            </a:pPr>
            <a:r>
              <a:rPr lang="en-US" sz="1200" b="1" dirty="0">
                <a:solidFill>
                  <a:srgbClr val="101010"/>
                </a:solidFill>
                <a:latin typeface="Courier New" pitchFamily="34" charset="0"/>
                <a:ea typeface="Courier New" pitchFamily="34" charset="-122"/>
                <a:cs typeface="Courier New" pitchFamily="34" charset="-120"/>
              </a:rPr>
              <a:t>LATE    0%  0.00</a:t>
            </a:r>
            <a:endParaRPr lang="en-US" sz="1200" dirty="0"/>
          </a:p>
        </p:txBody>
      </p:sp>
      <p:sp>
        <p:nvSpPr>
          <p:cNvPr id="17" name="Text 15"/>
          <p:cNvSpPr/>
          <p:nvPr/>
        </p:nvSpPr>
        <p:spPr>
          <a:xfrm>
            <a:off x="475488" y="6016752"/>
            <a:ext cx="11109960" cy="219456"/>
          </a:xfrm>
          <a:prstGeom prst="rect">
            <a:avLst/>
          </a:prstGeom>
          <a:noFill/>
          <a:ln/>
        </p:spPr>
        <p:txBody>
          <a:bodyPr wrap="square" lIns="0" tIns="0" rIns="0" bIns="0" rtlCol="0" anchor="ctr">
            <a:normAutofit/>
          </a:bodyPr>
          <a:lstStyle/>
          <a:p>
            <a:pPr algn="ctr" indent="0" marL="0">
              <a:buNone/>
            </a:pPr>
            <a:r>
              <a:rPr lang="en-US" sz="900" b="1" spc="70" kern="0" dirty="0">
                <a:solidFill>
                  <a:srgbClr val="101010"/>
                </a:solidFill>
                <a:latin typeface="Courier New" pitchFamily="34" charset="0"/>
                <a:ea typeface="Courier New" pitchFamily="34" charset="-122"/>
                <a:cs typeface="Courier New" pitchFamily="34" charset="-120"/>
              </a:rPr>
              <a:t>7 PASSING TESTS / REAL LOCAL POOLMANAGER PATH / TESTNET DEPLOYMENT</a:t>
            </a:r>
            <a:endParaRPr lang="en-US" sz="900" dirty="0"/>
          </a:p>
        </p:txBody>
      </p:sp>
      <p:sp>
        <p:nvSpPr>
          <p:cNvPr id="25" name="Slide Number Placeholder 0"/>
          <p:cNvSpPr>
            <a:spLocks noGrp="1"/>
          </p:cNvSpPr>
          <p:nvPr>
            <p:ph type="sldNum" sz="quarter" idx="4294967295"/>
          </p:nvPr>
        </p:nvSpPr>
        <p:spPr>
          <a:xfrm>
            <a:off x="11567160" y="6473952"/>
            <a:ext cx="27432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101010"/>
                </a:solidFill>
                <a:latin typeface="Courier New"/>
                <a:ea typeface="Courier New"/>
                <a:cs typeface="Courier New"/>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010"/>
        </a:solidFill>
      </p:bgPr>
    </p:bg>
    <p:spTree>
      <p:nvGrpSpPr>
        <p:cNvPr id="1" name=""/>
        <p:cNvGrpSpPr/>
        <p:nvPr/>
      </p:nvGrpSpPr>
      <p:grpSpPr>
        <a:xfrm>
          <a:off x="0" y="0"/>
          <a:ext cx="0" cy="0"/>
          <a:chOff x="0" y="0"/>
          <a:chExt cx="0" cy="0"/>
        </a:xfrm>
      </p:grpSpPr>
      <p:sp>
        <p:nvSpPr>
          <p:cNvPr id="2" name="Shape 0"/>
          <p:cNvSpPr/>
          <p:nvPr/>
        </p:nvSpPr>
        <p:spPr>
          <a:xfrm>
            <a:off x="411480" y="804672"/>
            <a:ext cx="1664208" cy="310896"/>
          </a:xfrm>
          <a:prstGeom prst="rect">
            <a:avLst/>
          </a:prstGeom>
          <a:solidFill>
            <a:srgbClr val="FF593D"/>
          </a:solidFill>
          <a:ln w="25400">
            <a:solidFill>
              <a:srgbClr val="101010"/>
            </a:solidFill>
            <a:prstDash val="solid"/>
          </a:ln>
        </p:spPr>
      </p:sp>
      <p:sp>
        <p:nvSpPr>
          <p:cNvPr id="3" name="Text 1"/>
          <p:cNvSpPr/>
          <p:nvPr/>
        </p:nvSpPr>
        <p:spPr>
          <a:xfrm>
            <a:off x="493776" y="822960"/>
            <a:ext cx="1499616" cy="256032"/>
          </a:xfrm>
          <a:prstGeom prst="rect">
            <a:avLst/>
          </a:prstGeom>
          <a:noFill/>
          <a:ln/>
        </p:spPr>
        <p:txBody>
          <a:bodyPr wrap="square" lIns="0" tIns="0" rIns="0" bIns="0" rtlCol="0" anchor="ctr">
            <a:normAutofit/>
          </a:bodyPr>
          <a:lstStyle/>
          <a:p>
            <a:pPr indent="0" marL="0">
              <a:buNone/>
            </a:pPr>
            <a:r>
              <a:rPr lang="en-US" sz="850" b="1" spc="80" kern="0" dirty="0">
                <a:solidFill>
                  <a:srgbClr val="101010"/>
                </a:solidFill>
                <a:latin typeface="Courier New" pitchFamily="34" charset="0"/>
                <a:ea typeface="Courier New" pitchFamily="34" charset="-122"/>
                <a:cs typeface="Courier New" pitchFamily="34" charset="-120"/>
              </a:rPr>
              <a:t>05 / WHAT COMES NEXT</a:t>
            </a:r>
            <a:endParaRPr lang="en-US" sz="850" dirty="0"/>
          </a:p>
        </p:txBody>
      </p:sp>
      <p:sp>
        <p:nvSpPr>
          <p:cNvPr id="4" name="Text 2"/>
          <p:cNvSpPr/>
          <p:nvPr/>
        </p:nvSpPr>
        <p:spPr>
          <a:xfrm>
            <a:off x="411480" y="1234440"/>
            <a:ext cx="11292840" cy="1115568"/>
          </a:xfrm>
          <a:prstGeom prst="rect">
            <a:avLst/>
          </a:prstGeom>
          <a:noFill/>
          <a:ln/>
        </p:spPr>
        <p:txBody>
          <a:bodyPr wrap="square" lIns="0" tIns="0" rIns="0" bIns="0" rtlCol="0" anchor="t">
            <a:normAutofit/>
          </a:bodyPr>
          <a:lstStyle/>
          <a:p>
            <a:pPr indent="0" marL="0">
              <a:buNone/>
            </a:pPr>
            <a:r>
              <a:rPr lang="en-US" sz="4700" b="1" spc="-120" kern="0" dirty="0">
                <a:solidFill>
                  <a:srgbClr val="FFFFFF"/>
                </a:solidFill>
                <a:latin typeface="Arial" pitchFamily="34" charset="0"/>
                <a:ea typeface="Arial" pitchFamily="34" charset="-122"/>
                <a:cs typeface="Arial" pitchFamily="34" charset="-120"/>
              </a:rPr>
              <a:t>FROM PROOF</a:t>
            </a:r>
            <a:endParaRPr lang="en-US" sz="4700" dirty="0"/>
          </a:p>
          <a:p>
            <a:pPr indent="0" marL="0">
              <a:buNone/>
            </a:pPr>
            <a:r>
              <a:rPr lang="en-US" sz="4700" b="1" spc="-120" kern="0" dirty="0">
                <a:solidFill>
                  <a:srgbClr val="FFFFFF"/>
                </a:solidFill>
                <a:latin typeface="Arial" pitchFamily="34" charset="0"/>
                <a:ea typeface="Arial" pitchFamily="34" charset="-122"/>
                <a:cs typeface="Arial" pitchFamily="34" charset="-120"/>
              </a:rPr>
              <a:t>TO PROTOCOL.</a:t>
            </a:r>
            <a:endParaRPr lang="en-US" sz="4700" dirty="0"/>
          </a:p>
        </p:txBody>
      </p:sp>
      <p:sp>
        <p:nvSpPr>
          <p:cNvPr id="5" name="Shape 3"/>
          <p:cNvSpPr/>
          <p:nvPr/>
        </p:nvSpPr>
        <p:spPr>
          <a:xfrm>
            <a:off x="438912" y="3566160"/>
            <a:ext cx="5074920" cy="1965960"/>
          </a:xfrm>
          <a:prstGeom prst="rect">
            <a:avLst/>
          </a:prstGeom>
          <a:solidFill>
            <a:srgbClr val="1746DB"/>
          </a:solidFill>
          <a:ln w="25400">
            <a:solidFill>
              <a:srgbClr val="FFFFFF"/>
            </a:solidFill>
            <a:prstDash val="solid"/>
          </a:ln>
        </p:spPr>
      </p:sp>
      <p:sp>
        <p:nvSpPr>
          <p:cNvPr id="6" name="Text 4"/>
          <p:cNvSpPr/>
          <p:nvPr/>
        </p:nvSpPr>
        <p:spPr>
          <a:xfrm>
            <a:off x="685800" y="3822192"/>
            <a:ext cx="1463040" cy="228600"/>
          </a:xfrm>
          <a:prstGeom prst="rect">
            <a:avLst/>
          </a:prstGeom>
          <a:noFill/>
          <a:ln/>
        </p:spPr>
        <p:txBody>
          <a:bodyPr wrap="square" lIns="0" tIns="0" rIns="0" bIns="0" rtlCol="0" anchor="ctr">
            <a:normAutofit/>
          </a:bodyPr>
          <a:lstStyle/>
          <a:p>
            <a:pPr indent="0" marL="0">
              <a:buNone/>
            </a:pPr>
            <a:r>
              <a:rPr lang="en-US" sz="900" b="1" dirty="0">
                <a:solidFill>
                  <a:srgbClr val="DCFF36"/>
                </a:solidFill>
                <a:latin typeface="Courier New" pitchFamily="34" charset="0"/>
                <a:ea typeface="Courier New" pitchFamily="34" charset="-122"/>
                <a:cs typeface="Courier New" pitchFamily="34" charset="-120"/>
              </a:rPr>
              <a:t>LIVE PROOF</a:t>
            </a:r>
            <a:endParaRPr lang="en-US" sz="900" dirty="0"/>
          </a:p>
        </p:txBody>
      </p:sp>
      <p:sp>
        <p:nvSpPr>
          <p:cNvPr id="7" name="Text 5"/>
          <p:cNvSpPr/>
          <p:nvPr/>
        </p:nvSpPr>
        <p:spPr>
          <a:xfrm>
            <a:off x="685800" y="4224528"/>
            <a:ext cx="3931920" cy="932688"/>
          </a:xfrm>
          <a:prstGeom prst="rect">
            <a:avLst/>
          </a:prstGeom>
          <a:noFill/>
          <a:ln/>
        </p:spPr>
        <p:txBody>
          <a:bodyPr wrap="square" lIns="0" tIns="0" rIns="0" bIns="0" rtlCol="0" anchor="t">
            <a:normAutofit/>
          </a:bodyPr>
          <a:lstStyle/>
          <a:p>
            <a:pPr indent="0" marL="0">
              <a:buNone/>
            </a:pPr>
            <a:r>
              <a:rPr lang="en-US" sz="1900" b="1" dirty="0">
                <a:solidFill>
                  <a:srgbClr val="FFFFFF"/>
                </a:solidFill>
                <a:latin typeface="Arial" pitchFamily="34" charset="0"/>
                <a:ea typeface="Arial" pitchFamily="34" charset="-122"/>
                <a:cs typeface="Arial" pitchFamily="34" charset="-120"/>
              </a:rPr>
              <a:t>Mined v4 hook</a:t>
            </a:r>
            <a:endParaRPr lang="en-US" sz="1900" dirty="0"/>
          </a:p>
          <a:p>
            <a:pPr indent="0" marL="0">
              <a:buNone/>
            </a:pPr>
            <a:r>
              <a:rPr lang="en-US" sz="1900" b="1" dirty="0">
                <a:solidFill>
                  <a:srgbClr val="FFFFFF"/>
                </a:solidFill>
                <a:latin typeface="Arial" pitchFamily="34" charset="0"/>
                <a:ea typeface="Arial" pitchFamily="34" charset="-122"/>
                <a:cs typeface="Arial" pitchFamily="34" charset="-120"/>
              </a:rPr>
              <a:t>Authenticated callbacks</a:t>
            </a:r>
            <a:endParaRPr lang="en-US" sz="1900" dirty="0"/>
          </a:p>
          <a:p>
            <a:pPr indent="0" marL="0">
              <a:buNone/>
            </a:pPr>
            <a:r>
              <a:rPr lang="en-US" sz="1900" b="1" dirty="0">
                <a:solidFill>
                  <a:srgbClr val="FFFFFF"/>
                </a:solidFill>
                <a:latin typeface="Arial" pitchFamily="34" charset="0"/>
                <a:ea typeface="Arial" pitchFamily="34" charset="-122"/>
                <a:cs typeface="Arial" pitchFamily="34" charset="-120"/>
              </a:rPr>
              <a:t>Snapshot LP rewards</a:t>
            </a:r>
            <a:endParaRPr lang="en-US" sz="1900" dirty="0"/>
          </a:p>
        </p:txBody>
      </p:sp>
      <p:sp>
        <p:nvSpPr>
          <p:cNvPr id="8" name="Shape 6"/>
          <p:cNvSpPr/>
          <p:nvPr/>
        </p:nvSpPr>
        <p:spPr>
          <a:xfrm>
            <a:off x="5733288" y="3566160"/>
            <a:ext cx="2743200" cy="1965960"/>
          </a:xfrm>
          <a:prstGeom prst="rect">
            <a:avLst/>
          </a:prstGeom>
          <a:solidFill>
            <a:srgbClr val="F5EEDA"/>
          </a:solidFill>
          <a:ln w="25400">
            <a:solidFill>
              <a:srgbClr val="FFFFFF"/>
            </a:solidFill>
            <a:prstDash val="solid"/>
          </a:ln>
        </p:spPr>
      </p:sp>
      <p:sp>
        <p:nvSpPr>
          <p:cNvPr id="9" name="Text 7"/>
          <p:cNvSpPr/>
          <p:nvPr/>
        </p:nvSpPr>
        <p:spPr>
          <a:xfrm>
            <a:off x="5980176" y="3822192"/>
            <a:ext cx="1005840" cy="228600"/>
          </a:xfrm>
          <a:prstGeom prst="rect">
            <a:avLst/>
          </a:prstGeom>
          <a:noFill/>
          <a:ln/>
        </p:spPr>
        <p:txBody>
          <a:bodyPr wrap="square" lIns="0" tIns="0" rIns="0" bIns="0" rtlCol="0" anchor="ctr">
            <a:normAutofit/>
          </a:bodyPr>
          <a:lstStyle/>
          <a:p>
            <a:pPr indent="0" marL="0">
              <a:buNone/>
            </a:pPr>
            <a:r>
              <a:rPr lang="en-US" sz="900" b="1" dirty="0">
                <a:solidFill>
                  <a:srgbClr val="101010"/>
                </a:solidFill>
                <a:latin typeface="Courier New" pitchFamily="34" charset="0"/>
                <a:ea typeface="Courier New" pitchFamily="34" charset="-122"/>
                <a:cs typeface="Courier New" pitchFamily="34" charset="-120"/>
              </a:rPr>
              <a:t>NEXT</a:t>
            </a:r>
            <a:endParaRPr lang="en-US" sz="900" dirty="0"/>
          </a:p>
        </p:txBody>
      </p:sp>
      <p:sp>
        <p:nvSpPr>
          <p:cNvPr id="10" name="Text 8"/>
          <p:cNvSpPr/>
          <p:nvPr/>
        </p:nvSpPr>
        <p:spPr>
          <a:xfrm>
            <a:off x="5980176" y="4224528"/>
            <a:ext cx="2103120" cy="932688"/>
          </a:xfrm>
          <a:prstGeom prst="rect">
            <a:avLst/>
          </a:prstGeom>
          <a:noFill/>
          <a:ln/>
        </p:spPr>
        <p:txBody>
          <a:bodyPr wrap="square" lIns="0" tIns="0" rIns="0" bIns="0" rtlCol="0" anchor="t">
            <a:normAutofit/>
          </a:bodyPr>
          <a:lstStyle/>
          <a:p>
            <a:pPr indent="0" marL="0">
              <a:buNone/>
            </a:pPr>
            <a:r>
              <a:rPr lang="en-US" sz="1700" b="1" dirty="0">
                <a:solidFill>
                  <a:srgbClr val="101010"/>
                </a:solidFill>
                <a:latin typeface="Arial" pitchFamily="34" charset="0"/>
                <a:ea typeface="Arial" pitchFamily="34" charset="-122"/>
                <a:cs typeface="Arial" pitchFamily="34" charset="-120"/>
              </a:rPr>
              <a:t>Commit-reveal bids</a:t>
            </a:r>
            <a:endParaRPr lang="en-US" sz="1700" dirty="0"/>
          </a:p>
          <a:p>
            <a:pPr indent="0" marL="0">
              <a:buNone/>
            </a:pPr>
            <a:r>
              <a:rPr lang="en-US" sz="1700" b="1" dirty="0">
                <a:solidFill>
                  <a:srgbClr val="101010"/>
                </a:solidFill>
                <a:latin typeface="Arial" pitchFamily="34" charset="0"/>
                <a:ea typeface="Arial" pitchFamily="34" charset="-122"/>
                <a:cs typeface="Arial" pitchFamily="34" charset="-120"/>
              </a:rPr>
              <a:t>Production oracles</a:t>
            </a:r>
            <a:endParaRPr lang="en-US" sz="1700" dirty="0"/>
          </a:p>
          <a:p>
            <a:pPr indent="0" marL="0">
              <a:buNone/>
            </a:pPr>
            <a:r>
              <a:rPr lang="en-US" sz="1700" b="1" dirty="0">
                <a:solidFill>
                  <a:srgbClr val="101010"/>
                </a:solidFill>
                <a:latin typeface="Arial" pitchFamily="34" charset="0"/>
                <a:ea typeface="Arial" pitchFamily="34" charset="-122"/>
                <a:cs typeface="Arial" pitchFamily="34" charset="-120"/>
              </a:rPr>
              <a:t>Searcher pilots</a:t>
            </a:r>
            <a:endParaRPr lang="en-US" sz="1700" dirty="0"/>
          </a:p>
        </p:txBody>
      </p:sp>
      <p:sp>
        <p:nvSpPr>
          <p:cNvPr id="11" name="Shape 9"/>
          <p:cNvSpPr/>
          <p:nvPr/>
        </p:nvSpPr>
        <p:spPr>
          <a:xfrm>
            <a:off x="8705088" y="3127248"/>
            <a:ext cx="2999232" cy="2852928"/>
          </a:xfrm>
          <a:prstGeom prst="rect">
            <a:avLst/>
          </a:prstGeom>
          <a:solidFill>
            <a:srgbClr val="DCFF36"/>
          </a:solidFill>
          <a:ln w="25400">
            <a:solidFill>
              <a:srgbClr val="FFFFFF"/>
            </a:solidFill>
            <a:prstDash val="solid"/>
          </a:ln>
        </p:spPr>
      </p:sp>
      <p:sp>
        <p:nvSpPr>
          <p:cNvPr id="12" name="Text 10"/>
          <p:cNvSpPr/>
          <p:nvPr/>
        </p:nvSpPr>
        <p:spPr>
          <a:xfrm>
            <a:off x="8988552" y="3493008"/>
            <a:ext cx="2423160" cy="1463040"/>
          </a:xfrm>
          <a:prstGeom prst="rect">
            <a:avLst/>
          </a:prstGeom>
          <a:noFill/>
          <a:ln/>
        </p:spPr>
        <p:txBody>
          <a:bodyPr wrap="square" lIns="0" tIns="0" rIns="0" bIns="0" rtlCol="0" anchor="t">
            <a:normAutofit/>
          </a:bodyPr>
          <a:lstStyle/>
          <a:p>
            <a:pPr indent="0" marL="0">
              <a:buNone/>
            </a:pPr>
            <a:r>
              <a:rPr lang="en-US" sz="3100" b="1" spc="-100" kern="0" dirty="0">
                <a:solidFill>
                  <a:srgbClr val="101010"/>
                </a:solidFill>
                <a:latin typeface="Arial" pitchFamily="34" charset="0"/>
                <a:ea typeface="Arial" pitchFamily="34" charset="-122"/>
                <a:cs typeface="Arial" pitchFamily="34" charset="-120"/>
              </a:rPr>
              <a:t>NOW, LET'S</a:t>
            </a:r>
            <a:endParaRPr lang="en-US" sz="3100" dirty="0"/>
          </a:p>
          <a:p>
            <a:pPr indent="0" marL="0">
              <a:buNone/>
            </a:pPr>
            <a:r>
              <a:rPr lang="en-US" sz="3100" b="1" spc="-100" kern="0" dirty="0">
                <a:solidFill>
                  <a:srgbClr val="101010"/>
                </a:solidFill>
                <a:latin typeface="Arial" pitchFamily="34" charset="0"/>
                <a:ea typeface="Arial" pitchFamily="34" charset="-122"/>
                <a:cs typeface="Arial" pitchFamily="34" charset="-120"/>
              </a:rPr>
              <a:t>RUN THE</a:t>
            </a:r>
            <a:endParaRPr lang="en-US" sz="3100" dirty="0"/>
          </a:p>
          <a:p>
            <a:pPr indent="0" marL="0">
              <a:buNone/>
            </a:pPr>
            <a:r>
              <a:rPr lang="en-US" sz="3100" b="1" spc="-100" kern="0" dirty="0">
                <a:solidFill>
                  <a:srgbClr val="101010"/>
                </a:solidFill>
                <a:latin typeface="Arial" pitchFamily="34" charset="0"/>
                <a:ea typeface="Arial" pitchFamily="34" charset="-122"/>
                <a:cs typeface="Arial" pitchFamily="34" charset="-120"/>
              </a:rPr>
              <a:t>MARKET.</a:t>
            </a:r>
            <a:endParaRPr lang="en-US" sz="3100" dirty="0"/>
          </a:p>
        </p:txBody>
      </p:sp>
      <p:sp>
        <p:nvSpPr>
          <p:cNvPr id="13" name="Text 11"/>
          <p:cNvSpPr/>
          <p:nvPr/>
        </p:nvSpPr>
        <p:spPr>
          <a:xfrm>
            <a:off x="8988552" y="5321808"/>
            <a:ext cx="2331720" cy="228600"/>
          </a:xfrm>
          <a:prstGeom prst="rect">
            <a:avLst/>
          </a:prstGeom>
          <a:noFill/>
          <a:ln/>
        </p:spPr>
        <p:txBody>
          <a:bodyPr wrap="square" lIns="0" tIns="0" rIns="0" bIns="0" rtlCol="0" anchor="ctr">
            <a:normAutofit/>
          </a:bodyPr>
          <a:lstStyle/>
          <a:p>
            <a:pPr indent="0" marL="0">
              <a:buNone/>
            </a:pPr>
            <a:r>
              <a:rPr lang="en-US" sz="900" b="1" dirty="0">
                <a:solidFill>
                  <a:srgbClr val="101010"/>
                </a:solidFill>
                <a:latin typeface="Courier New" pitchFamily="34" charset="0"/>
                <a:ea typeface="Courier New" pitchFamily="34" charset="-122"/>
                <a:cs typeface="Courier New" pitchFamily="34" charset="-120"/>
              </a:rPr>
              <a:t>LIVE TESTNET DEMO  -&gt;</a:t>
            </a:r>
            <a:endParaRPr lang="en-US" sz="900" dirty="0"/>
          </a:p>
        </p:txBody>
      </p:sp>
      <p:sp>
        <p:nvSpPr>
          <p:cNvPr id="25" name="Slide Number Placeholder 0"/>
          <p:cNvSpPr>
            <a:spLocks noGrp="1"/>
          </p:cNvSpPr>
          <p:nvPr>
            <p:ph type="sldNum" sz="quarter" idx="4294967295"/>
          </p:nvPr>
        </p:nvSpPr>
        <p:spPr>
          <a:xfrm>
            <a:off x="11567160" y="6473952"/>
            <a:ext cx="27432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101010"/>
                </a:solidFill>
                <a:latin typeface="Courier New"/>
                <a:ea typeface="Courier New"/>
                <a:cs typeface="Courier New"/>
              </a:defRPr>
            </a:lvl1pPr>
          </a:lstStyle>
          <a:p>
            <a:pPr algn="r"/>
            <a:fld id="{F7021451-1387-4CA6-816F-3879F97B5CBC}" type="slidenum">
              <a:rPr b="1"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Rebalance Rights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Rebalance Rights: Auction the correction</dc:title>
  <dc:subject>UHI10 Hookathon pitch</dc:subject>
  <dc:creator>Rebalance Rights</dc:creator>
  <cp:lastModifiedBy>Rebalance Rights</cp:lastModifiedBy>
  <cp:revision>1</cp:revision>
  <dcterms:created xsi:type="dcterms:W3CDTF">2026-09-03T13:42:23Z</dcterms:created>
  <dcterms:modified xsi:type="dcterms:W3CDTF">2026-09-03T13:42:23Z</dcterms:modified>
</cp:coreProperties>
</file>